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3"/>
  </p:notesMasterIdLst>
  <p:sldIdLst>
    <p:sldId id="256" r:id="rId2"/>
    <p:sldId id="257" r:id="rId3"/>
    <p:sldId id="258" r:id="rId4"/>
    <p:sldId id="259" r:id="rId5"/>
    <p:sldId id="271" r:id="rId6"/>
    <p:sldId id="261" r:id="rId7"/>
    <p:sldId id="273" r:id="rId8"/>
    <p:sldId id="262" r:id="rId9"/>
    <p:sldId id="263" r:id="rId10"/>
    <p:sldId id="265" r:id="rId11"/>
    <p:sldId id="274" r:id="rId12"/>
    <p:sldId id="266" r:id="rId13"/>
    <p:sldId id="267" r:id="rId14"/>
    <p:sldId id="268" r:id="rId15"/>
    <p:sldId id="269" r:id="rId16"/>
    <p:sldId id="275" r:id="rId17"/>
    <p:sldId id="276" r:id="rId18"/>
    <p:sldId id="277" r:id="rId19"/>
    <p:sldId id="270" r:id="rId20"/>
    <p:sldId id="260" r:id="rId21"/>
    <p:sldId id="278" r:id="rId22"/>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スタイルなし、表のグリッド線なし">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スタイルなし、表のグリッド線あり">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2421" autoAdjust="0"/>
  </p:normalViewPr>
  <p:slideViewPr>
    <p:cSldViewPr snapToGrid="0">
      <p:cViewPr>
        <p:scale>
          <a:sx n="50" d="100"/>
          <a:sy n="50" d="100"/>
        </p:scale>
        <p:origin x="1260" y="44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B6AAFB-12C9-4BD6-A526-D9FB6B6DB8C1}" type="datetimeFigureOut">
              <a:rPr kumimoji="1" lang="ja-JP" altLang="en-US" smtClean="0"/>
              <a:t>2026/8/25</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E7BFB5-E63D-4371-A5C4-73099D2A61C0}" type="slidenum">
              <a:rPr kumimoji="1" lang="ja-JP" altLang="en-US" smtClean="0"/>
              <a:t>‹#›</a:t>
            </a:fld>
            <a:endParaRPr kumimoji="1" lang="ja-JP" altLang="en-US"/>
          </a:p>
        </p:txBody>
      </p:sp>
    </p:spTree>
    <p:extLst>
      <p:ext uri="{BB962C8B-B14F-4D97-AF65-F5344CB8AC3E}">
        <p14:creationId xmlns:p14="http://schemas.microsoft.com/office/powerpoint/2010/main" val="1321449886"/>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F5E7BFB5-E63D-4371-A5C4-73099D2A61C0}" type="slidenum">
              <a:rPr kumimoji="1" lang="ja-JP" altLang="en-US" smtClean="0"/>
              <a:t>5</a:t>
            </a:fld>
            <a:endParaRPr kumimoji="1" lang="ja-JP" altLang="en-US"/>
          </a:p>
        </p:txBody>
      </p:sp>
    </p:spTree>
    <p:extLst>
      <p:ext uri="{BB962C8B-B14F-4D97-AF65-F5344CB8AC3E}">
        <p14:creationId xmlns:p14="http://schemas.microsoft.com/office/powerpoint/2010/main" val="4367622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5FCC33-CCAB-36FB-932A-C146FEF9F6E8}"/>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7A9E647B-FD84-2A80-C8A1-B89E1517DEE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5BE73CB8-992D-910D-39B4-7EE3209A14A1}"/>
              </a:ext>
            </a:extLst>
          </p:cNvPr>
          <p:cNvSpPr>
            <a:spLocks noGrp="1"/>
          </p:cNvSpPr>
          <p:nvPr>
            <p:ph type="dt" sz="half" idx="10"/>
          </p:nvPr>
        </p:nvSpPr>
        <p:spPr/>
        <p:txBody>
          <a:bodyPr/>
          <a:lstStyle/>
          <a:p>
            <a:fld id="{20391570-055B-4608-ABE5-4AC8D7901E20}" type="datetimeFigureOut">
              <a:rPr kumimoji="1" lang="ja-JP" altLang="en-US" smtClean="0"/>
              <a:t>2026/8/25</a:t>
            </a:fld>
            <a:endParaRPr kumimoji="1" lang="ja-JP" altLang="en-US"/>
          </a:p>
        </p:txBody>
      </p:sp>
      <p:sp>
        <p:nvSpPr>
          <p:cNvPr id="5" name="フッター プレースホルダー 4">
            <a:extLst>
              <a:ext uri="{FF2B5EF4-FFF2-40B4-BE49-F238E27FC236}">
                <a16:creationId xmlns:a16="http://schemas.microsoft.com/office/drawing/2014/main" id="{A99817A8-D7B3-3038-6918-D91FD486C8B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6F50B374-7ABA-422D-9517-AF5871A8F185}"/>
              </a:ext>
            </a:extLst>
          </p:cNvPr>
          <p:cNvSpPr>
            <a:spLocks noGrp="1"/>
          </p:cNvSpPr>
          <p:nvPr>
            <p:ph type="sldNum" sz="quarter" idx="12"/>
          </p:nvPr>
        </p:nvSpPr>
        <p:spPr/>
        <p:txBody>
          <a:bodyPr/>
          <a:lstStyle/>
          <a:p>
            <a:fld id="{8DC781A4-889D-46E0-B162-D0BE1DD86EBC}" type="slidenum">
              <a:rPr kumimoji="1" lang="ja-JP" altLang="en-US" smtClean="0"/>
              <a:t>‹#›</a:t>
            </a:fld>
            <a:endParaRPr kumimoji="1" lang="ja-JP" altLang="en-US"/>
          </a:p>
        </p:txBody>
      </p:sp>
    </p:spTree>
    <p:extLst>
      <p:ext uri="{BB962C8B-B14F-4D97-AF65-F5344CB8AC3E}">
        <p14:creationId xmlns:p14="http://schemas.microsoft.com/office/powerpoint/2010/main" val="4770717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95D1A4C-710A-1593-8F43-DEDC3A06167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8A2BD47-7F4E-371A-2073-9FF85B7D5783}"/>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9041F15-C068-217F-54AC-655A1FB2C877}"/>
              </a:ext>
            </a:extLst>
          </p:cNvPr>
          <p:cNvSpPr>
            <a:spLocks noGrp="1"/>
          </p:cNvSpPr>
          <p:nvPr>
            <p:ph type="dt" sz="half" idx="10"/>
          </p:nvPr>
        </p:nvSpPr>
        <p:spPr/>
        <p:txBody>
          <a:bodyPr/>
          <a:lstStyle/>
          <a:p>
            <a:fld id="{20391570-055B-4608-ABE5-4AC8D7901E20}" type="datetimeFigureOut">
              <a:rPr kumimoji="1" lang="ja-JP" altLang="en-US" smtClean="0"/>
              <a:t>2026/8/25</a:t>
            </a:fld>
            <a:endParaRPr kumimoji="1" lang="ja-JP" altLang="en-US"/>
          </a:p>
        </p:txBody>
      </p:sp>
      <p:sp>
        <p:nvSpPr>
          <p:cNvPr id="5" name="フッター プレースホルダー 4">
            <a:extLst>
              <a:ext uri="{FF2B5EF4-FFF2-40B4-BE49-F238E27FC236}">
                <a16:creationId xmlns:a16="http://schemas.microsoft.com/office/drawing/2014/main" id="{300CF5EE-854C-AC00-4FD7-740492D24BE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66EAE53-3727-B94E-EF67-09BEC6229210}"/>
              </a:ext>
            </a:extLst>
          </p:cNvPr>
          <p:cNvSpPr>
            <a:spLocks noGrp="1"/>
          </p:cNvSpPr>
          <p:nvPr>
            <p:ph type="sldNum" sz="quarter" idx="12"/>
          </p:nvPr>
        </p:nvSpPr>
        <p:spPr/>
        <p:txBody>
          <a:bodyPr/>
          <a:lstStyle/>
          <a:p>
            <a:fld id="{8DC781A4-889D-46E0-B162-D0BE1DD86EBC}" type="slidenum">
              <a:rPr kumimoji="1" lang="ja-JP" altLang="en-US" smtClean="0"/>
              <a:t>‹#›</a:t>
            </a:fld>
            <a:endParaRPr kumimoji="1" lang="ja-JP" altLang="en-US"/>
          </a:p>
        </p:txBody>
      </p:sp>
    </p:spTree>
    <p:extLst>
      <p:ext uri="{BB962C8B-B14F-4D97-AF65-F5344CB8AC3E}">
        <p14:creationId xmlns:p14="http://schemas.microsoft.com/office/powerpoint/2010/main" val="12854000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358AF0-6ACD-D6C2-600C-96A1A4685C9D}"/>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E27ED6A2-0B4E-B3FE-6C0B-D20DC73E6F5F}"/>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22C1B840-C8B1-1FF8-A737-5183DDBFEA8B}"/>
              </a:ext>
            </a:extLst>
          </p:cNvPr>
          <p:cNvSpPr>
            <a:spLocks noGrp="1"/>
          </p:cNvSpPr>
          <p:nvPr>
            <p:ph type="dt" sz="half" idx="10"/>
          </p:nvPr>
        </p:nvSpPr>
        <p:spPr/>
        <p:txBody>
          <a:bodyPr/>
          <a:lstStyle/>
          <a:p>
            <a:fld id="{20391570-055B-4608-ABE5-4AC8D7901E20}" type="datetimeFigureOut">
              <a:rPr kumimoji="1" lang="ja-JP" altLang="en-US" smtClean="0"/>
              <a:t>2026/8/25</a:t>
            </a:fld>
            <a:endParaRPr kumimoji="1" lang="ja-JP" altLang="en-US"/>
          </a:p>
        </p:txBody>
      </p:sp>
      <p:sp>
        <p:nvSpPr>
          <p:cNvPr id="5" name="フッター プレースホルダー 4">
            <a:extLst>
              <a:ext uri="{FF2B5EF4-FFF2-40B4-BE49-F238E27FC236}">
                <a16:creationId xmlns:a16="http://schemas.microsoft.com/office/drawing/2014/main" id="{1F83AA2B-D2DE-A71E-E0E9-F4BD46EFA39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42D187DA-22AB-C13A-C0F9-422A8D4BE805}"/>
              </a:ext>
            </a:extLst>
          </p:cNvPr>
          <p:cNvSpPr>
            <a:spLocks noGrp="1"/>
          </p:cNvSpPr>
          <p:nvPr>
            <p:ph type="sldNum" sz="quarter" idx="12"/>
          </p:nvPr>
        </p:nvSpPr>
        <p:spPr/>
        <p:txBody>
          <a:bodyPr/>
          <a:lstStyle/>
          <a:p>
            <a:fld id="{8DC781A4-889D-46E0-B162-D0BE1DD86EBC}" type="slidenum">
              <a:rPr kumimoji="1" lang="ja-JP" altLang="en-US" smtClean="0"/>
              <a:t>‹#›</a:t>
            </a:fld>
            <a:endParaRPr kumimoji="1" lang="ja-JP" altLang="en-US"/>
          </a:p>
        </p:txBody>
      </p:sp>
    </p:spTree>
    <p:extLst>
      <p:ext uri="{BB962C8B-B14F-4D97-AF65-F5344CB8AC3E}">
        <p14:creationId xmlns:p14="http://schemas.microsoft.com/office/powerpoint/2010/main" val="24150541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7F4C073-04BA-53FD-4127-78053E41B5C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8B4DBBAB-924B-048F-B9CF-F829E952AF93}"/>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7CE895D-B474-BCE4-6254-C7E7A2C414AB}"/>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A6BF428-D985-773D-696E-41DBB6556735}"/>
              </a:ext>
            </a:extLst>
          </p:cNvPr>
          <p:cNvSpPr>
            <a:spLocks noGrp="1"/>
          </p:cNvSpPr>
          <p:nvPr>
            <p:ph type="dt" sz="half" idx="10"/>
          </p:nvPr>
        </p:nvSpPr>
        <p:spPr/>
        <p:txBody>
          <a:bodyPr/>
          <a:lstStyle/>
          <a:p>
            <a:fld id="{20391570-055B-4608-ABE5-4AC8D7901E20}" type="datetimeFigureOut">
              <a:rPr kumimoji="1" lang="ja-JP" altLang="en-US" smtClean="0"/>
              <a:t>2026/8/25</a:t>
            </a:fld>
            <a:endParaRPr kumimoji="1" lang="ja-JP" altLang="en-US"/>
          </a:p>
        </p:txBody>
      </p:sp>
      <p:sp>
        <p:nvSpPr>
          <p:cNvPr id="6" name="フッター プレースホルダー 5">
            <a:extLst>
              <a:ext uri="{FF2B5EF4-FFF2-40B4-BE49-F238E27FC236}">
                <a16:creationId xmlns:a16="http://schemas.microsoft.com/office/drawing/2014/main" id="{4655E546-6867-6598-704E-4FADA69E64C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9B75F411-0218-C2E4-0311-DB35994B14D9}"/>
              </a:ext>
            </a:extLst>
          </p:cNvPr>
          <p:cNvSpPr>
            <a:spLocks noGrp="1"/>
          </p:cNvSpPr>
          <p:nvPr>
            <p:ph type="sldNum" sz="quarter" idx="12"/>
          </p:nvPr>
        </p:nvSpPr>
        <p:spPr/>
        <p:txBody>
          <a:bodyPr/>
          <a:lstStyle/>
          <a:p>
            <a:fld id="{8DC781A4-889D-46E0-B162-D0BE1DD86EBC}" type="slidenum">
              <a:rPr kumimoji="1" lang="ja-JP" altLang="en-US" smtClean="0"/>
              <a:t>‹#›</a:t>
            </a:fld>
            <a:endParaRPr kumimoji="1" lang="ja-JP" altLang="en-US"/>
          </a:p>
        </p:txBody>
      </p:sp>
    </p:spTree>
    <p:extLst>
      <p:ext uri="{BB962C8B-B14F-4D97-AF65-F5344CB8AC3E}">
        <p14:creationId xmlns:p14="http://schemas.microsoft.com/office/powerpoint/2010/main" val="584965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B71C6FA-07D9-FFF4-BF6A-12BCBDF5FC14}"/>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AFADFFD9-CAD1-2CAC-D1F9-49FA2D79C6B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1816B6F6-1472-06B7-E62D-7CD954E58D90}"/>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23FCBD8A-3017-9CAB-7A6E-00E3ED76BBF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A0381A72-B5FE-B9D1-5265-2850965AB99A}"/>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DB09D26-0E0D-7F78-8386-40951F5C1013}"/>
              </a:ext>
            </a:extLst>
          </p:cNvPr>
          <p:cNvSpPr>
            <a:spLocks noGrp="1"/>
          </p:cNvSpPr>
          <p:nvPr>
            <p:ph type="dt" sz="half" idx="10"/>
          </p:nvPr>
        </p:nvSpPr>
        <p:spPr/>
        <p:txBody>
          <a:bodyPr/>
          <a:lstStyle/>
          <a:p>
            <a:fld id="{20391570-055B-4608-ABE5-4AC8D7901E20}" type="datetimeFigureOut">
              <a:rPr kumimoji="1" lang="ja-JP" altLang="en-US" smtClean="0"/>
              <a:t>2026/8/25</a:t>
            </a:fld>
            <a:endParaRPr kumimoji="1" lang="ja-JP" altLang="en-US"/>
          </a:p>
        </p:txBody>
      </p:sp>
      <p:sp>
        <p:nvSpPr>
          <p:cNvPr id="8" name="フッター プレースホルダー 7">
            <a:extLst>
              <a:ext uri="{FF2B5EF4-FFF2-40B4-BE49-F238E27FC236}">
                <a16:creationId xmlns:a16="http://schemas.microsoft.com/office/drawing/2014/main" id="{462FDFA1-33FF-A991-55E2-9B08812D58D9}"/>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0779185-F7E8-0C43-238F-54ADCF7F8DD2}"/>
              </a:ext>
            </a:extLst>
          </p:cNvPr>
          <p:cNvSpPr>
            <a:spLocks noGrp="1"/>
          </p:cNvSpPr>
          <p:nvPr>
            <p:ph type="sldNum" sz="quarter" idx="12"/>
          </p:nvPr>
        </p:nvSpPr>
        <p:spPr/>
        <p:txBody>
          <a:bodyPr/>
          <a:lstStyle/>
          <a:p>
            <a:fld id="{8DC781A4-889D-46E0-B162-D0BE1DD86EBC}" type="slidenum">
              <a:rPr kumimoji="1" lang="ja-JP" altLang="en-US" smtClean="0"/>
              <a:t>‹#›</a:t>
            </a:fld>
            <a:endParaRPr kumimoji="1" lang="ja-JP" altLang="en-US"/>
          </a:p>
        </p:txBody>
      </p:sp>
    </p:spTree>
    <p:extLst>
      <p:ext uri="{BB962C8B-B14F-4D97-AF65-F5344CB8AC3E}">
        <p14:creationId xmlns:p14="http://schemas.microsoft.com/office/powerpoint/2010/main" val="227955931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0DA8C81-7B74-D9D8-8A39-B21B0807E839}"/>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6731B4AD-8FAA-CCC9-C88A-AFF290FBC6ED}"/>
              </a:ext>
            </a:extLst>
          </p:cNvPr>
          <p:cNvSpPr>
            <a:spLocks noGrp="1"/>
          </p:cNvSpPr>
          <p:nvPr>
            <p:ph type="dt" sz="half" idx="10"/>
          </p:nvPr>
        </p:nvSpPr>
        <p:spPr/>
        <p:txBody>
          <a:bodyPr/>
          <a:lstStyle/>
          <a:p>
            <a:fld id="{20391570-055B-4608-ABE5-4AC8D7901E20}" type="datetimeFigureOut">
              <a:rPr kumimoji="1" lang="ja-JP" altLang="en-US" smtClean="0"/>
              <a:t>2026/8/25</a:t>
            </a:fld>
            <a:endParaRPr kumimoji="1" lang="ja-JP" altLang="en-US"/>
          </a:p>
        </p:txBody>
      </p:sp>
      <p:sp>
        <p:nvSpPr>
          <p:cNvPr id="4" name="フッター プレースホルダー 3">
            <a:extLst>
              <a:ext uri="{FF2B5EF4-FFF2-40B4-BE49-F238E27FC236}">
                <a16:creationId xmlns:a16="http://schemas.microsoft.com/office/drawing/2014/main" id="{CE8FE802-3843-6199-4311-D5BC3D7C56A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17EC7BE9-0D69-6B57-3319-63738AF7A669}"/>
              </a:ext>
            </a:extLst>
          </p:cNvPr>
          <p:cNvSpPr>
            <a:spLocks noGrp="1"/>
          </p:cNvSpPr>
          <p:nvPr>
            <p:ph type="sldNum" sz="quarter" idx="12"/>
          </p:nvPr>
        </p:nvSpPr>
        <p:spPr/>
        <p:txBody>
          <a:bodyPr/>
          <a:lstStyle/>
          <a:p>
            <a:fld id="{8DC781A4-889D-46E0-B162-D0BE1DD86EBC}" type="slidenum">
              <a:rPr kumimoji="1" lang="ja-JP" altLang="en-US" smtClean="0"/>
              <a:t>‹#›</a:t>
            </a:fld>
            <a:endParaRPr kumimoji="1" lang="ja-JP" altLang="en-US"/>
          </a:p>
        </p:txBody>
      </p:sp>
    </p:spTree>
    <p:extLst>
      <p:ext uri="{BB962C8B-B14F-4D97-AF65-F5344CB8AC3E}">
        <p14:creationId xmlns:p14="http://schemas.microsoft.com/office/powerpoint/2010/main" val="1222277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70F68F64-49DC-286E-45CF-D6A2971C2B58}"/>
              </a:ext>
            </a:extLst>
          </p:cNvPr>
          <p:cNvSpPr>
            <a:spLocks noGrp="1"/>
          </p:cNvSpPr>
          <p:nvPr>
            <p:ph type="dt" sz="half" idx="10"/>
          </p:nvPr>
        </p:nvSpPr>
        <p:spPr/>
        <p:txBody>
          <a:bodyPr/>
          <a:lstStyle/>
          <a:p>
            <a:fld id="{20391570-055B-4608-ABE5-4AC8D7901E20}" type="datetimeFigureOut">
              <a:rPr kumimoji="1" lang="ja-JP" altLang="en-US" smtClean="0"/>
              <a:t>2026/8/25</a:t>
            </a:fld>
            <a:endParaRPr kumimoji="1" lang="ja-JP" altLang="en-US"/>
          </a:p>
        </p:txBody>
      </p:sp>
      <p:sp>
        <p:nvSpPr>
          <p:cNvPr id="3" name="フッター プレースホルダー 2">
            <a:extLst>
              <a:ext uri="{FF2B5EF4-FFF2-40B4-BE49-F238E27FC236}">
                <a16:creationId xmlns:a16="http://schemas.microsoft.com/office/drawing/2014/main" id="{7583740C-3A76-1A90-23F0-F9803928CE70}"/>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500544-6014-9FF3-0AE4-2CEB54F6802F}"/>
              </a:ext>
            </a:extLst>
          </p:cNvPr>
          <p:cNvSpPr>
            <a:spLocks noGrp="1"/>
          </p:cNvSpPr>
          <p:nvPr>
            <p:ph type="sldNum" sz="quarter" idx="12"/>
          </p:nvPr>
        </p:nvSpPr>
        <p:spPr/>
        <p:txBody>
          <a:bodyPr/>
          <a:lstStyle/>
          <a:p>
            <a:fld id="{8DC781A4-889D-46E0-B162-D0BE1DD86EBC}" type="slidenum">
              <a:rPr kumimoji="1" lang="ja-JP" altLang="en-US" smtClean="0"/>
              <a:t>‹#›</a:t>
            </a:fld>
            <a:endParaRPr kumimoji="1" lang="ja-JP" altLang="en-US"/>
          </a:p>
        </p:txBody>
      </p:sp>
    </p:spTree>
    <p:extLst>
      <p:ext uri="{BB962C8B-B14F-4D97-AF65-F5344CB8AC3E}">
        <p14:creationId xmlns:p14="http://schemas.microsoft.com/office/powerpoint/2010/main" val="37055574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D5C3FD-E179-FC61-027E-985F292EFE87}"/>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1CCD9E2-923F-427C-1DFA-4E2CC3C8B9C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740C4E75-932F-243F-E254-7913883F363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EB34DFEE-6E50-3DBF-DD38-CCDB34A04675}"/>
              </a:ext>
            </a:extLst>
          </p:cNvPr>
          <p:cNvSpPr>
            <a:spLocks noGrp="1"/>
          </p:cNvSpPr>
          <p:nvPr>
            <p:ph type="dt" sz="half" idx="10"/>
          </p:nvPr>
        </p:nvSpPr>
        <p:spPr/>
        <p:txBody>
          <a:bodyPr/>
          <a:lstStyle/>
          <a:p>
            <a:fld id="{20391570-055B-4608-ABE5-4AC8D7901E20}" type="datetimeFigureOut">
              <a:rPr kumimoji="1" lang="ja-JP" altLang="en-US" smtClean="0"/>
              <a:t>2026/8/25</a:t>
            </a:fld>
            <a:endParaRPr kumimoji="1" lang="ja-JP" altLang="en-US"/>
          </a:p>
        </p:txBody>
      </p:sp>
      <p:sp>
        <p:nvSpPr>
          <p:cNvPr id="6" name="フッター プレースホルダー 5">
            <a:extLst>
              <a:ext uri="{FF2B5EF4-FFF2-40B4-BE49-F238E27FC236}">
                <a16:creationId xmlns:a16="http://schemas.microsoft.com/office/drawing/2014/main" id="{00B59779-42A4-A974-4F9B-BE0CDC38AB7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2A091CF9-CB98-D883-08B8-3F870371684D}"/>
              </a:ext>
            </a:extLst>
          </p:cNvPr>
          <p:cNvSpPr>
            <a:spLocks noGrp="1"/>
          </p:cNvSpPr>
          <p:nvPr>
            <p:ph type="sldNum" sz="quarter" idx="12"/>
          </p:nvPr>
        </p:nvSpPr>
        <p:spPr/>
        <p:txBody>
          <a:bodyPr/>
          <a:lstStyle/>
          <a:p>
            <a:fld id="{8DC781A4-889D-46E0-B162-D0BE1DD86EBC}" type="slidenum">
              <a:rPr kumimoji="1" lang="ja-JP" altLang="en-US" smtClean="0"/>
              <a:t>‹#›</a:t>
            </a:fld>
            <a:endParaRPr kumimoji="1" lang="ja-JP" altLang="en-US"/>
          </a:p>
        </p:txBody>
      </p:sp>
    </p:spTree>
    <p:extLst>
      <p:ext uri="{BB962C8B-B14F-4D97-AF65-F5344CB8AC3E}">
        <p14:creationId xmlns:p14="http://schemas.microsoft.com/office/powerpoint/2010/main" val="34323318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E6BC25F-AE09-A10A-5D16-A06B26F42FAE}"/>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790EADD8-BFBF-4E46-9378-A65FE4CAF25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C2394B66-C677-EAC1-063F-AB3EFCBB7E6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756F131-3BA7-BFD8-9648-C8A9E64355FB}"/>
              </a:ext>
            </a:extLst>
          </p:cNvPr>
          <p:cNvSpPr>
            <a:spLocks noGrp="1"/>
          </p:cNvSpPr>
          <p:nvPr>
            <p:ph type="dt" sz="half" idx="10"/>
          </p:nvPr>
        </p:nvSpPr>
        <p:spPr/>
        <p:txBody>
          <a:bodyPr/>
          <a:lstStyle/>
          <a:p>
            <a:fld id="{20391570-055B-4608-ABE5-4AC8D7901E20}" type="datetimeFigureOut">
              <a:rPr kumimoji="1" lang="ja-JP" altLang="en-US" smtClean="0"/>
              <a:t>2026/8/25</a:t>
            </a:fld>
            <a:endParaRPr kumimoji="1" lang="ja-JP" altLang="en-US"/>
          </a:p>
        </p:txBody>
      </p:sp>
      <p:sp>
        <p:nvSpPr>
          <p:cNvPr id="6" name="フッター プレースホルダー 5">
            <a:extLst>
              <a:ext uri="{FF2B5EF4-FFF2-40B4-BE49-F238E27FC236}">
                <a16:creationId xmlns:a16="http://schemas.microsoft.com/office/drawing/2014/main" id="{C2F5A33C-55A7-98A3-D711-4BD529540BDE}"/>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DF714225-44D0-51F4-5DCF-567DA5E36B2B}"/>
              </a:ext>
            </a:extLst>
          </p:cNvPr>
          <p:cNvSpPr>
            <a:spLocks noGrp="1"/>
          </p:cNvSpPr>
          <p:nvPr>
            <p:ph type="sldNum" sz="quarter" idx="12"/>
          </p:nvPr>
        </p:nvSpPr>
        <p:spPr/>
        <p:txBody>
          <a:bodyPr/>
          <a:lstStyle/>
          <a:p>
            <a:fld id="{8DC781A4-889D-46E0-B162-D0BE1DD86EBC}" type="slidenum">
              <a:rPr kumimoji="1" lang="ja-JP" altLang="en-US" smtClean="0"/>
              <a:t>‹#›</a:t>
            </a:fld>
            <a:endParaRPr kumimoji="1" lang="ja-JP" altLang="en-US"/>
          </a:p>
        </p:txBody>
      </p:sp>
    </p:spTree>
    <p:extLst>
      <p:ext uri="{BB962C8B-B14F-4D97-AF65-F5344CB8AC3E}">
        <p14:creationId xmlns:p14="http://schemas.microsoft.com/office/powerpoint/2010/main" val="7699779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0A244BE-8401-EC72-2316-933931D637F7}"/>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C0E8DE5D-E3A7-ED00-F8D4-60F9184EDA9F}"/>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1CF7F5B-D149-D5EC-A562-D9EF30806C7A}"/>
              </a:ext>
            </a:extLst>
          </p:cNvPr>
          <p:cNvSpPr>
            <a:spLocks noGrp="1"/>
          </p:cNvSpPr>
          <p:nvPr>
            <p:ph type="dt" sz="half" idx="10"/>
          </p:nvPr>
        </p:nvSpPr>
        <p:spPr/>
        <p:txBody>
          <a:bodyPr/>
          <a:lstStyle/>
          <a:p>
            <a:fld id="{20391570-055B-4608-ABE5-4AC8D7901E20}" type="datetimeFigureOut">
              <a:rPr kumimoji="1" lang="ja-JP" altLang="en-US" smtClean="0"/>
              <a:t>2026/8/25</a:t>
            </a:fld>
            <a:endParaRPr kumimoji="1" lang="ja-JP" altLang="en-US"/>
          </a:p>
        </p:txBody>
      </p:sp>
      <p:sp>
        <p:nvSpPr>
          <p:cNvPr id="5" name="フッター プレースホルダー 4">
            <a:extLst>
              <a:ext uri="{FF2B5EF4-FFF2-40B4-BE49-F238E27FC236}">
                <a16:creationId xmlns:a16="http://schemas.microsoft.com/office/drawing/2014/main" id="{6E92E2BF-1A61-FB77-1B04-580EAFAD8A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CADA674-F77D-2F3D-607C-CB2F270AA900}"/>
              </a:ext>
            </a:extLst>
          </p:cNvPr>
          <p:cNvSpPr>
            <a:spLocks noGrp="1"/>
          </p:cNvSpPr>
          <p:nvPr>
            <p:ph type="sldNum" sz="quarter" idx="12"/>
          </p:nvPr>
        </p:nvSpPr>
        <p:spPr/>
        <p:txBody>
          <a:bodyPr/>
          <a:lstStyle/>
          <a:p>
            <a:fld id="{8DC781A4-889D-46E0-B162-D0BE1DD86EBC}" type="slidenum">
              <a:rPr kumimoji="1" lang="ja-JP" altLang="en-US" smtClean="0"/>
              <a:t>‹#›</a:t>
            </a:fld>
            <a:endParaRPr kumimoji="1" lang="ja-JP" altLang="en-US"/>
          </a:p>
        </p:txBody>
      </p:sp>
    </p:spTree>
    <p:extLst>
      <p:ext uri="{BB962C8B-B14F-4D97-AF65-F5344CB8AC3E}">
        <p14:creationId xmlns:p14="http://schemas.microsoft.com/office/powerpoint/2010/main" val="36587625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4CC4D07-8DB7-40F2-13CE-673C8A300209}"/>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702AAE49-C5CC-007D-5FE5-7644743B5F5E}"/>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188557DC-0F20-C341-3EDF-4954438C7254}"/>
              </a:ext>
            </a:extLst>
          </p:cNvPr>
          <p:cNvSpPr>
            <a:spLocks noGrp="1"/>
          </p:cNvSpPr>
          <p:nvPr>
            <p:ph type="dt" sz="half" idx="10"/>
          </p:nvPr>
        </p:nvSpPr>
        <p:spPr/>
        <p:txBody>
          <a:bodyPr/>
          <a:lstStyle/>
          <a:p>
            <a:fld id="{20391570-055B-4608-ABE5-4AC8D7901E20}" type="datetimeFigureOut">
              <a:rPr kumimoji="1" lang="ja-JP" altLang="en-US" smtClean="0"/>
              <a:t>2026/8/25</a:t>
            </a:fld>
            <a:endParaRPr kumimoji="1" lang="ja-JP" altLang="en-US"/>
          </a:p>
        </p:txBody>
      </p:sp>
      <p:sp>
        <p:nvSpPr>
          <p:cNvPr id="5" name="フッター プレースホルダー 4">
            <a:extLst>
              <a:ext uri="{FF2B5EF4-FFF2-40B4-BE49-F238E27FC236}">
                <a16:creationId xmlns:a16="http://schemas.microsoft.com/office/drawing/2014/main" id="{943C8184-AA4C-FA48-2A64-97B150568BE1}"/>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CE5CB8A-3C96-6D95-91EC-4A2A639FB35A}"/>
              </a:ext>
            </a:extLst>
          </p:cNvPr>
          <p:cNvSpPr>
            <a:spLocks noGrp="1"/>
          </p:cNvSpPr>
          <p:nvPr>
            <p:ph type="sldNum" sz="quarter" idx="12"/>
          </p:nvPr>
        </p:nvSpPr>
        <p:spPr/>
        <p:txBody>
          <a:bodyPr/>
          <a:lstStyle/>
          <a:p>
            <a:fld id="{8DC781A4-889D-46E0-B162-D0BE1DD86EBC}" type="slidenum">
              <a:rPr kumimoji="1" lang="ja-JP" altLang="en-US" smtClean="0"/>
              <a:t>‹#›</a:t>
            </a:fld>
            <a:endParaRPr kumimoji="1" lang="ja-JP" altLang="en-US"/>
          </a:p>
        </p:txBody>
      </p:sp>
    </p:spTree>
    <p:extLst>
      <p:ext uri="{BB962C8B-B14F-4D97-AF65-F5344CB8AC3E}">
        <p14:creationId xmlns:p14="http://schemas.microsoft.com/office/powerpoint/2010/main" val="327483912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25F0777D-1637-EAFD-8415-777B741A33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F8546B8-F721-26D1-191E-A37D5CC3AF1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FA263C71-2FD1-76A7-3E02-80F6329461E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0391570-055B-4608-ABE5-4AC8D7901E20}" type="datetimeFigureOut">
              <a:rPr kumimoji="1" lang="ja-JP" altLang="en-US" smtClean="0"/>
              <a:t>2026/8/25</a:t>
            </a:fld>
            <a:endParaRPr kumimoji="1" lang="ja-JP" altLang="en-US"/>
          </a:p>
        </p:txBody>
      </p:sp>
      <p:sp>
        <p:nvSpPr>
          <p:cNvPr id="5" name="フッター プレースホルダー 4">
            <a:extLst>
              <a:ext uri="{FF2B5EF4-FFF2-40B4-BE49-F238E27FC236}">
                <a16:creationId xmlns:a16="http://schemas.microsoft.com/office/drawing/2014/main" id="{CA97F72A-806C-8BAA-011F-A11E19BED4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56B15225-63CD-7645-B71D-E2714306A3E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DC781A4-889D-46E0-B162-D0BE1DD86EBC}" type="slidenum">
              <a:rPr kumimoji="1" lang="ja-JP" altLang="en-US" smtClean="0"/>
              <a:t>‹#›</a:t>
            </a:fld>
            <a:endParaRPr kumimoji="1" lang="ja-JP" altLang="en-US"/>
          </a:p>
        </p:txBody>
      </p:sp>
    </p:spTree>
    <p:extLst>
      <p:ext uri="{BB962C8B-B14F-4D97-AF65-F5344CB8AC3E}">
        <p14:creationId xmlns:p14="http://schemas.microsoft.com/office/powerpoint/2010/main" val="15251752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4E72BF5-567B-F6C7-2AA9-DBEDDF430B71}"/>
              </a:ext>
            </a:extLst>
          </p:cNvPr>
          <p:cNvSpPr>
            <a:spLocks noGrp="1"/>
          </p:cNvSpPr>
          <p:nvPr>
            <p:ph type="ctrTitle"/>
          </p:nvPr>
        </p:nvSpPr>
        <p:spPr/>
        <p:txBody>
          <a:bodyPr/>
          <a:lstStyle/>
          <a:p>
            <a:r>
              <a:rPr kumimoji="1" lang="ja-JP" altLang="en-US" dirty="0"/>
              <a:t>研究発表</a:t>
            </a:r>
          </a:p>
        </p:txBody>
      </p:sp>
      <p:sp>
        <p:nvSpPr>
          <p:cNvPr id="3" name="字幕 2">
            <a:extLst>
              <a:ext uri="{FF2B5EF4-FFF2-40B4-BE49-F238E27FC236}">
                <a16:creationId xmlns:a16="http://schemas.microsoft.com/office/drawing/2014/main" id="{6129B32A-9120-8E7F-A2C4-84518D18BF64}"/>
              </a:ext>
            </a:extLst>
          </p:cNvPr>
          <p:cNvSpPr>
            <a:spLocks noGrp="1"/>
          </p:cNvSpPr>
          <p:nvPr>
            <p:ph type="subTitle" idx="1"/>
          </p:nvPr>
        </p:nvSpPr>
        <p:spPr/>
        <p:txBody>
          <a:bodyPr/>
          <a:lstStyle/>
          <a:p>
            <a:r>
              <a:rPr kumimoji="1" lang="ja-JP" altLang="en-US" dirty="0"/>
              <a:t>鶴岡工業高等専門学校　坂本蒼太</a:t>
            </a:r>
            <a:endParaRPr kumimoji="1" lang="en-US" altLang="ja-JP" dirty="0"/>
          </a:p>
          <a:p>
            <a:r>
              <a:rPr kumimoji="1" lang="en-US" altLang="ja-JP" dirty="0"/>
              <a:t>2026/08/28</a:t>
            </a:r>
          </a:p>
        </p:txBody>
      </p:sp>
    </p:spTree>
    <p:extLst>
      <p:ext uri="{BB962C8B-B14F-4D97-AF65-F5344CB8AC3E}">
        <p14:creationId xmlns:p14="http://schemas.microsoft.com/office/powerpoint/2010/main" val="17781268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B48CB82-C9E8-DA1E-4EFC-C2B2F91B70E6}"/>
              </a:ext>
            </a:extLst>
          </p:cNvPr>
          <p:cNvSpPr>
            <a:spLocks noGrp="1"/>
          </p:cNvSpPr>
          <p:nvPr>
            <p:ph type="title"/>
          </p:nvPr>
        </p:nvSpPr>
        <p:spPr/>
        <p:txBody>
          <a:bodyPr/>
          <a:lstStyle/>
          <a:p>
            <a:r>
              <a:rPr lang="ja-JP" altLang="en-US" dirty="0"/>
              <a:t>自己紹介</a:t>
            </a:r>
            <a:endParaRPr kumimoji="1" lang="ja-JP" altLang="en-US" dirty="0"/>
          </a:p>
        </p:txBody>
      </p:sp>
      <p:sp>
        <p:nvSpPr>
          <p:cNvPr id="3" name="コンテンツ プレースホルダー 2">
            <a:extLst>
              <a:ext uri="{FF2B5EF4-FFF2-40B4-BE49-F238E27FC236}">
                <a16:creationId xmlns:a16="http://schemas.microsoft.com/office/drawing/2014/main" id="{19B391D8-F7C6-4EBD-51BF-3AA6C656E15B}"/>
              </a:ext>
            </a:extLst>
          </p:cNvPr>
          <p:cNvSpPr>
            <a:spLocks noGrp="1"/>
          </p:cNvSpPr>
          <p:nvPr>
            <p:ph idx="1"/>
          </p:nvPr>
        </p:nvSpPr>
        <p:spPr/>
        <p:txBody>
          <a:bodyPr/>
          <a:lstStyle/>
          <a:p>
            <a:pPr marL="0" indent="0">
              <a:buNone/>
            </a:pPr>
            <a:r>
              <a:rPr kumimoji="1" lang="ja-JP" altLang="en-US" dirty="0"/>
              <a:t>・鶴岡工業高等専門学校　創造工学科情報コース　</a:t>
            </a:r>
            <a:r>
              <a:rPr kumimoji="1" lang="en-US" altLang="ja-JP" dirty="0"/>
              <a:t>4</a:t>
            </a:r>
            <a:r>
              <a:rPr kumimoji="1" lang="ja-JP" altLang="en-US" dirty="0"/>
              <a:t>年</a:t>
            </a:r>
            <a:endParaRPr kumimoji="1" lang="en-US" altLang="ja-JP" dirty="0"/>
          </a:p>
          <a:p>
            <a:pPr marL="0" indent="0">
              <a:buNone/>
            </a:pPr>
            <a:r>
              <a:rPr lang="ja-JP" altLang="en-US" dirty="0"/>
              <a:t>・最適化に興味がある</a:t>
            </a:r>
            <a:endParaRPr lang="en-US" altLang="ja-JP" dirty="0"/>
          </a:p>
          <a:p>
            <a:pPr marL="0" indent="0">
              <a:buNone/>
            </a:pPr>
            <a:r>
              <a:rPr lang="ja-JP" altLang="en-US" dirty="0"/>
              <a:t>・高専プロコンに参加予定</a:t>
            </a:r>
            <a:endParaRPr lang="en-US" altLang="ja-JP" dirty="0"/>
          </a:p>
        </p:txBody>
      </p:sp>
    </p:spTree>
    <p:extLst>
      <p:ext uri="{BB962C8B-B14F-4D97-AF65-F5344CB8AC3E}">
        <p14:creationId xmlns:p14="http://schemas.microsoft.com/office/powerpoint/2010/main" val="22814952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A8AFD93-2B34-037C-C520-703BB0874A24}"/>
              </a:ext>
            </a:extLst>
          </p:cNvPr>
          <p:cNvSpPr>
            <a:spLocks noGrp="1"/>
          </p:cNvSpPr>
          <p:nvPr>
            <p:ph type="title"/>
          </p:nvPr>
        </p:nvSpPr>
        <p:spPr/>
        <p:txBody>
          <a:bodyPr/>
          <a:lstStyle/>
          <a:p>
            <a:r>
              <a:rPr kumimoji="1" lang="ja-JP" altLang="en-US" dirty="0"/>
              <a:t>研究内容・目的</a:t>
            </a:r>
          </a:p>
        </p:txBody>
      </p:sp>
      <p:sp>
        <p:nvSpPr>
          <p:cNvPr id="3" name="コンテンツ プレースホルダー 2">
            <a:extLst>
              <a:ext uri="{FF2B5EF4-FFF2-40B4-BE49-F238E27FC236}">
                <a16:creationId xmlns:a16="http://schemas.microsoft.com/office/drawing/2014/main" id="{CFBFCEA1-9F99-BED9-7229-66344A5A552D}"/>
              </a:ext>
            </a:extLst>
          </p:cNvPr>
          <p:cNvSpPr>
            <a:spLocks noGrp="1"/>
          </p:cNvSpPr>
          <p:nvPr>
            <p:ph idx="1"/>
          </p:nvPr>
        </p:nvSpPr>
        <p:spPr/>
        <p:txBody>
          <a:bodyPr/>
          <a:lstStyle/>
          <a:p>
            <a:pPr fontAlgn="base"/>
            <a:r>
              <a:rPr lang="ja-JP" altLang="ja-JP" dirty="0"/>
              <a:t>格子</a:t>
            </a:r>
            <a:r>
              <a:rPr lang="en-US" altLang="ja-JP" dirty="0"/>
              <a:t>QCD</a:t>
            </a:r>
            <a:r>
              <a:rPr lang="ja-JP" altLang="ja-JP" dirty="0"/>
              <a:t>コードを富岳および</a:t>
            </a:r>
            <a:r>
              <a:rPr lang="en-US" altLang="ja-JP" dirty="0"/>
              <a:t>R-CCS</a:t>
            </a:r>
            <a:r>
              <a:rPr lang="ja-JP" altLang="ja-JP" dirty="0"/>
              <a:t>クラウド上の</a:t>
            </a:r>
            <a:r>
              <a:rPr lang="en-US" altLang="ja-JP" dirty="0"/>
              <a:t>GPU</a:t>
            </a:r>
            <a:r>
              <a:rPr lang="ja-JP" altLang="ja-JP" dirty="0"/>
              <a:t>マシンで実行し、その性能プロファイリングを取得する。</a:t>
            </a:r>
            <a:r>
              <a:rPr lang="en-US" altLang="ja-JP" dirty="0"/>
              <a:t>​</a:t>
            </a:r>
          </a:p>
          <a:p>
            <a:pPr fontAlgn="base"/>
            <a:endParaRPr lang="en-US" altLang="ja-JP" dirty="0"/>
          </a:p>
          <a:p>
            <a:pPr fontAlgn="base"/>
            <a:r>
              <a:rPr lang="ja-JP" altLang="ja-JP" dirty="0"/>
              <a:t>得られた性能プロファイリングを元に、プログラムの最適化を行う</a:t>
            </a:r>
            <a:r>
              <a:rPr lang="en-US" altLang="ja-JP" dirty="0"/>
              <a:t>​</a:t>
            </a:r>
          </a:p>
          <a:p>
            <a:pPr fontAlgn="base"/>
            <a:endParaRPr lang="en-US" altLang="ja-JP" dirty="0"/>
          </a:p>
          <a:p>
            <a:pPr fontAlgn="base"/>
            <a:r>
              <a:rPr lang="ja-JP" altLang="ja-JP" dirty="0"/>
              <a:t>最適化後のプログラムの性能を、富岳および</a:t>
            </a:r>
            <a:r>
              <a:rPr lang="en-US" altLang="ja-JP" dirty="0"/>
              <a:t>R-CCS</a:t>
            </a:r>
            <a:r>
              <a:rPr lang="ja-JP" altLang="ja-JP" dirty="0"/>
              <a:t>クラウド上の</a:t>
            </a:r>
            <a:r>
              <a:rPr lang="en-US" altLang="ja-JP" dirty="0"/>
              <a:t>GPU</a:t>
            </a:r>
            <a:r>
              <a:rPr lang="ja-JP" altLang="ja-JP" dirty="0"/>
              <a:t>マシンで評価する</a:t>
            </a:r>
            <a:r>
              <a:rPr lang="en-US" altLang="ja-JP" dirty="0"/>
              <a:t>​</a:t>
            </a:r>
          </a:p>
          <a:p>
            <a:endParaRPr kumimoji="1" lang="ja-JP" altLang="en-US" dirty="0"/>
          </a:p>
        </p:txBody>
      </p:sp>
    </p:spTree>
    <p:extLst>
      <p:ext uri="{BB962C8B-B14F-4D97-AF65-F5344CB8AC3E}">
        <p14:creationId xmlns:p14="http://schemas.microsoft.com/office/powerpoint/2010/main" val="39734886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29B9178-221D-561C-686A-6DEF74EA4469}"/>
              </a:ext>
            </a:extLst>
          </p:cNvPr>
          <p:cNvSpPr>
            <a:spLocks noGrp="1"/>
          </p:cNvSpPr>
          <p:nvPr>
            <p:ph type="title"/>
          </p:nvPr>
        </p:nvSpPr>
        <p:spPr/>
        <p:txBody>
          <a:bodyPr/>
          <a:lstStyle/>
          <a:p>
            <a:r>
              <a:rPr kumimoji="1" lang="en-US" altLang="ja-JP" dirty="0"/>
              <a:t>LQCD</a:t>
            </a:r>
            <a:r>
              <a:rPr kumimoji="1" lang="ja-JP" altLang="en-US" dirty="0"/>
              <a:t>とは</a:t>
            </a:r>
          </a:p>
        </p:txBody>
      </p:sp>
      <p:sp>
        <p:nvSpPr>
          <p:cNvPr id="3" name="コンテンツ プレースホルダー 2">
            <a:extLst>
              <a:ext uri="{FF2B5EF4-FFF2-40B4-BE49-F238E27FC236}">
                <a16:creationId xmlns:a16="http://schemas.microsoft.com/office/drawing/2014/main" id="{90D9A9CC-EF0B-F109-CB75-1D984755A953}"/>
              </a:ext>
            </a:extLst>
          </p:cNvPr>
          <p:cNvSpPr>
            <a:spLocks noGrp="1"/>
          </p:cNvSpPr>
          <p:nvPr>
            <p:ph idx="1"/>
          </p:nvPr>
        </p:nvSpPr>
        <p:spPr/>
        <p:txBody>
          <a:bodyPr/>
          <a:lstStyle/>
          <a:p>
            <a:pPr marL="0" indent="0">
              <a:buNone/>
            </a:pPr>
            <a:r>
              <a:rPr kumimoji="1" lang="ja-JP" altLang="en-US" dirty="0"/>
              <a:t>・</a:t>
            </a:r>
            <a:r>
              <a:rPr kumimoji="1" lang="en-US" altLang="ja-JP" dirty="0"/>
              <a:t>QCD(</a:t>
            </a:r>
            <a:r>
              <a:rPr kumimoji="1" lang="ja-JP" altLang="en-US" dirty="0"/>
              <a:t>量子色力学</a:t>
            </a:r>
            <a:r>
              <a:rPr kumimoji="1" lang="en-US" altLang="ja-JP" dirty="0"/>
              <a:t>)</a:t>
            </a:r>
          </a:p>
          <a:p>
            <a:pPr marL="0" indent="0">
              <a:buNone/>
            </a:pPr>
            <a:r>
              <a:rPr lang="ja-JP" altLang="en-US" dirty="0"/>
              <a:t>　　クォークとグルーオンの相互作用を記述する理論</a:t>
            </a:r>
            <a:endParaRPr lang="en-US" altLang="ja-JP" dirty="0"/>
          </a:p>
          <a:p>
            <a:pPr marL="0" indent="0">
              <a:buNone/>
            </a:pPr>
            <a:endParaRPr lang="en-US" altLang="ja-JP" dirty="0"/>
          </a:p>
          <a:p>
            <a:pPr marL="0" indent="0">
              <a:buNone/>
            </a:pPr>
            <a:r>
              <a:rPr kumimoji="1" lang="ja-JP" altLang="en-US" dirty="0"/>
              <a:t>・連続な時空を格子状に離散化</a:t>
            </a:r>
            <a:endParaRPr kumimoji="1" lang="en-US" altLang="ja-JP" dirty="0"/>
          </a:p>
          <a:p>
            <a:pPr marL="0" indent="0">
              <a:buNone/>
            </a:pPr>
            <a:r>
              <a:rPr lang="ja-JP" altLang="en-US" dirty="0"/>
              <a:t>　　数値計算を可能にするため</a:t>
            </a:r>
            <a:endParaRPr lang="en-US" altLang="ja-JP" dirty="0"/>
          </a:p>
          <a:p>
            <a:pPr marL="0" indent="0">
              <a:buNone/>
            </a:pPr>
            <a:endParaRPr kumimoji="1" lang="en-US" altLang="ja-JP" dirty="0"/>
          </a:p>
          <a:p>
            <a:pPr marL="0" indent="0">
              <a:buNone/>
            </a:pPr>
            <a:r>
              <a:rPr lang="ja-JP" altLang="en-US" dirty="0"/>
              <a:t>・</a:t>
            </a:r>
            <a:endParaRPr kumimoji="1" lang="ja-JP" altLang="en-US" dirty="0"/>
          </a:p>
        </p:txBody>
      </p:sp>
    </p:spTree>
    <p:extLst>
      <p:ext uri="{BB962C8B-B14F-4D97-AF65-F5344CB8AC3E}">
        <p14:creationId xmlns:p14="http://schemas.microsoft.com/office/powerpoint/2010/main" val="40985891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48DB3CD-D110-BCA9-D958-E7DD898258DD}"/>
              </a:ext>
            </a:extLst>
          </p:cNvPr>
          <p:cNvSpPr>
            <a:spLocks noGrp="1"/>
          </p:cNvSpPr>
          <p:nvPr>
            <p:ph type="title"/>
          </p:nvPr>
        </p:nvSpPr>
        <p:spPr/>
        <p:txBody>
          <a:bodyPr/>
          <a:lstStyle/>
          <a:p>
            <a:r>
              <a:rPr kumimoji="1" lang="en-US" altLang="ja-JP" dirty="0"/>
              <a:t>LQCD</a:t>
            </a:r>
            <a:r>
              <a:rPr kumimoji="1" lang="ja-JP" altLang="en-US" dirty="0"/>
              <a:t>と</a:t>
            </a:r>
            <a:r>
              <a:rPr kumimoji="1" lang="en-US" altLang="ja-JP" dirty="0"/>
              <a:t>Solver</a:t>
            </a:r>
            <a:endParaRPr kumimoji="1" lang="ja-JP" altLang="en-US" dirty="0"/>
          </a:p>
        </p:txBody>
      </p:sp>
      <p:sp>
        <p:nvSpPr>
          <p:cNvPr id="3" name="コンテンツ プレースホルダー 2">
            <a:extLst>
              <a:ext uri="{FF2B5EF4-FFF2-40B4-BE49-F238E27FC236}">
                <a16:creationId xmlns:a16="http://schemas.microsoft.com/office/drawing/2014/main" id="{279E2157-B722-E778-7B2C-86A86BC527C7}"/>
              </a:ext>
            </a:extLst>
          </p:cNvPr>
          <p:cNvSpPr>
            <a:spLocks noGrp="1"/>
          </p:cNvSpPr>
          <p:nvPr>
            <p:ph idx="1"/>
          </p:nvPr>
        </p:nvSpPr>
        <p:spPr/>
        <p:txBody>
          <a:bodyPr>
            <a:normAutofit/>
          </a:bodyPr>
          <a:lstStyle/>
          <a:p>
            <a:pPr lvl="0"/>
            <a:r>
              <a:rPr lang="en-US" altLang="ja-JP" dirty="0"/>
              <a:t>LQCD</a:t>
            </a:r>
            <a:r>
              <a:rPr lang="ja-JP" altLang="en-US" dirty="0"/>
              <a:t>ではフェルミオンに関する計算で大規模な連立一次方程式を繰り返し解く</a:t>
            </a:r>
          </a:p>
          <a:p>
            <a:pPr lvl="0"/>
            <a:r>
              <a:rPr lang="ja-JP" altLang="en-US" dirty="0"/>
              <a:t>連立一次方程式には</a:t>
            </a:r>
            <a:r>
              <a:rPr lang="en-US" altLang="ja-JP" dirty="0"/>
              <a:t>Dirac</a:t>
            </a:r>
            <a:r>
              <a:rPr lang="ja-JP" altLang="en-US" dirty="0"/>
              <a:t>演算子が現れる</a:t>
            </a:r>
          </a:p>
          <a:p>
            <a:pPr lvl="0"/>
            <a:r>
              <a:rPr lang="ja-JP" altLang="en-US" dirty="0"/>
              <a:t>格子サイズが大きいため、直接法ではなく反復法</a:t>
            </a:r>
            <a:r>
              <a:rPr lang="en-US" altLang="ja-JP" dirty="0"/>
              <a:t>(Solver)</a:t>
            </a:r>
            <a:r>
              <a:rPr lang="ja-JP" altLang="en-US" dirty="0"/>
              <a:t>を使用</a:t>
            </a:r>
          </a:p>
          <a:p>
            <a:pPr lvl="0"/>
            <a:r>
              <a:rPr lang="en-US" altLang="ja-JP" dirty="0"/>
              <a:t>Solver</a:t>
            </a:r>
            <a:r>
              <a:rPr lang="ja-JP" altLang="en-US" dirty="0"/>
              <a:t>は繰り返し実行されるため、</a:t>
            </a:r>
            <a:r>
              <a:rPr lang="en-US" altLang="ja-JP" dirty="0"/>
              <a:t>LQCD</a:t>
            </a:r>
            <a:r>
              <a:rPr lang="ja-JP" altLang="en-US" dirty="0"/>
              <a:t>全体の性能に大きく影響</a:t>
            </a:r>
          </a:p>
        </p:txBody>
      </p:sp>
      <mc:AlternateContent xmlns:mc="http://schemas.openxmlformats.org/markup-compatibility/2006">
        <mc:Choice xmlns:a14="http://schemas.microsoft.com/office/drawing/2010/main" Requires="a14">
          <p:sp>
            <p:nvSpPr>
              <p:cNvPr id="4" name="テキスト ボックス 3">
                <a:extLst>
                  <a:ext uri="{FF2B5EF4-FFF2-40B4-BE49-F238E27FC236}">
                    <a16:creationId xmlns:a16="http://schemas.microsoft.com/office/drawing/2014/main" id="{CC6B8DFD-C6E9-1875-BADF-C9ED2BE47122}"/>
                  </a:ext>
                </a:extLst>
              </p:cNvPr>
              <p:cNvSpPr txBox="1"/>
              <p:nvPr/>
            </p:nvSpPr>
            <p:spPr>
              <a:xfrm>
                <a:off x="2570869" y="5499855"/>
                <a:ext cx="2009204" cy="677108"/>
              </a:xfrm>
              <a:prstGeom prst="rect">
                <a:avLst/>
              </a:prstGeom>
              <a:noFill/>
            </p:spPr>
            <p:txBody>
              <a:bodyPr wrap="none" lIns="0" tIns="0" rIns="0" bIns="0" rtlCol="0">
                <a:spAutoFit/>
              </a:bodyPr>
              <a:lstStyle/>
              <a:p>
                <a14:m>
                  <m:oMathPara xmlns:m="http://schemas.openxmlformats.org/officeDocument/2006/math">
                    <m:oMath>
                      <m:r>
                        <a:rPr kumimoji="1" lang="en-US" altLang="ja-JP" sz="4400" b="0" i="1" smtClean="0">
                          <a:latin typeface="Cambria Math" panose="02040503050406030204" pitchFamily="18" charset="0"/>
                        </a:rPr>
                        <m:t>𝐷</m:t>
                      </m:r>
                      <m:r>
                        <a:rPr kumimoji="1" lang="ja-JP" altLang="en-US" sz="4400" b="0" i="1" smtClean="0">
                          <a:latin typeface="Cambria Math" panose="02040503050406030204" pitchFamily="18" charset="0"/>
                        </a:rPr>
                        <m:t>𝜓</m:t>
                      </m:r>
                      <m:r>
                        <a:rPr kumimoji="1" lang="en-US" altLang="ja-JP" sz="4400" b="0" i="1" smtClean="0">
                          <a:latin typeface="Cambria Math" panose="02040503050406030204" pitchFamily="18" charset="0"/>
                        </a:rPr>
                        <m:t>=</m:t>
                      </m:r>
                      <m:r>
                        <a:rPr kumimoji="1" lang="en-US" altLang="ja-JP" sz="4400" b="0" i="1" smtClean="0">
                          <a:latin typeface="Cambria Math" panose="02040503050406030204" pitchFamily="18" charset="0"/>
                        </a:rPr>
                        <m:t>𝑏</m:t>
                      </m:r>
                    </m:oMath>
                  </m:oMathPara>
                </a14:m>
                <a:endParaRPr kumimoji="1" lang="en-US" altLang="ja-JP" sz="4400" b="0" dirty="0"/>
              </a:p>
            </p:txBody>
          </p:sp>
        </mc:Choice>
        <mc:Fallback>
          <p:sp>
            <p:nvSpPr>
              <p:cNvPr id="4" name="テキスト ボックス 3">
                <a:extLst>
                  <a:ext uri="{FF2B5EF4-FFF2-40B4-BE49-F238E27FC236}">
                    <a16:creationId xmlns:a16="http://schemas.microsoft.com/office/drawing/2014/main" id="{CC6B8DFD-C6E9-1875-BADF-C9ED2BE47122}"/>
                  </a:ext>
                </a:extLst>
              </p:cNvPr>
              <p:cNvSpPr txBox="1">
                <a:spLocks noRot="1" noChangeAspect="1" noMove="1" noResize="1" noEditPoints="1" noAdjustHandles="1" noChangeArrowheads="1" noChangeShapeType="1" noTextEdit="1"/>
              </p:cNvSpPr>
              <p:nvPr/>
            </p:nvSpPr>
            <p:spPr>
              <a:xfrm>
                <a:off x="2570869" y="5499855"/>
                <a:ext cx="2009204" cy="677108"/>
              </a:xfrm>
              <a:prstGeom prst="rect">
                <a:avLst/>
              </a:prstGeom>
              <a:blipFill>
                <a:blip r:embed="rId3"/>
                <a:stretch>
                  <a:fillRect/>
                </a:stretch>
              </a:blipFill>
            </p:spPr>
            <p:txBody>
              <a:bodyPr/>
              <a:lstStyle/>
              <a:p>
                <a:r>
                  <a:rPr lang="ja-JP" altLang="en-US">
                    <a:noFill/>
                  </a:rPr>
                  <a:t> </a:t>
                </a:r>
              </a:p>
            </p:txBody>
          </p:sp>
        </mc:Fallback>
      </mc:AlternateContent>
      <p:sp>
        <p:nvSpPr>
          <p:cNvPr id="5" name="テキスト ボックス 4">
            <a:extLst>
              <a:ext uri="{FF2B5EF4-FFF2-40B4-BE49-F238E27FC236}">
                <a16:creationId xmlns:a16="http://schemas.microsoft.com/office/drawing/2014/main" id="{5DAC40E1-C723-CB1B-3F9A-2CE94B0A4294}"/>
              </a:ext>
            </a:extLst>
          </p:cNvPr>
          <p:cNvSpPr txBox="1"/>
          <p:nvPr/>
        </p:nvSpPr>
        <p:spPr>
          <a:xfrm>
            <a:off x="5638800" y="2971800"/>
            <a:ext cx="65" cy="276999"/>
          </a:xfrm>
          <a:prstGeom prst="rect">
            <a:avLst/>
          </a:prstGeom>
          <a:noFill/>
        </p:spPr>
        <p:txBody>
          <a:bodyPr wrap="none" lIns="0" tIns="0" rIns="0" bIns="0" rtlCol="0">
            <a:spAutoFit/>
          </a:bodyPr>
          <a:lstStyle/>
          <a:p>
            <a:endParaRPr kumimoji="1" lang="ja-JP" altLang="en-US" dirty="0"/>
          </a:p>
        </p:txBody>
      </p:sp>
      <mc:AlternateContent xmlns:mc="http://schemas.openxmlformats.org/markup-compatibility/2006">
        <mc:Choice xmlns:a14="http://schemas.microsoft.com/office/drawing/2010/main" Requires="a14">
          <p:sp>
            <p:nvSpPr>
              <p:cNvPr id="6" name="テキスト ボックス 5">
                <a:extLst>
                  <a:ext uri="{FF2B5EF4-FFF2-40B4-BE49-F238E27FC236}">
                    <a16:creationId xmlns:a16="http://schemas.microsoft.com/office/drawing/2014/main" id="{A91BEB45-6B3B-24E9-6B0A-9A47B22C3AE3}"/>
                  </a:ext>
                </a:extLst>
              </p:cNvPr>
              <p:cNvSpPr txBox="1"/>
              <p:nvPr/>
            </p:nvSpPr>
            <p:spPr>
              <a:xfrm>
                <a:off x="7416800" y="5499855"/>
                <a:ext cx="2436757" cy="631455"/>
              </a:xfrm>
              <a:prstGeom prst="rect">
                <a:avLst/>
              </a:prstGeom>
              <a:noFill/>
            </p:spPr>
            <p:txBody>
              <a:bodyPr wrap="none" lIns="0" tIns="0" rIns="0" bIns="0" rtlCol="0">
                <a:spAutoFit/>
              </a:bodyPr>
              <a:lstStyle/>
              <a:p>
                <a14:m>
                  <m:oMathPara xmlns:m="http://schemas.openxmlformats.org/officeDocument/2006/math">
                    <m:oMath>
                      <m:sSup>
                        <m:sSupPr>
                          <m:ctrlPr>
                            <a:rPr kumimoji="1" lang="en-US" altLang="ja-JP" sz="4000" b="0" i="1" smtClean="0">
                              <a:latin typeface="Cambria Math" panose="02040503050406030204" pitchFamily="18" charset="0"/>
                            </a:rPr>
                          </m:ctrlPr>
                        </m:sSupPr>
                        <m:e>
                          <m:r>
                            <a:rPr kumimoji="1" lang="en-US" altLang="ja-JP" sz="4000" b="0" i="1" smtClean="0">
                              <a:latin typeface="Cambria Math" panose="02040503050406030204" pitchFamily="18" charset="0"/>
                            </a:rPr>
                            <m:t>𝐷</m:t>
                          </m:r>
                        </m:e>
                        <m:sup>
                          <m:r>
                            <a:rPr kumimoji="1" lang="en-US" altLang="ja-JP" sz="4000" b="0" i="1" smtClean="0">
                              <a:latin typeface="Cambria Math" panose="02040503050406030204" pitchFamily="18" charset="0"/>
                              <a:ea typeface="Cambria Math" panose="02040503050406030204" pitchFamily="18" charset="0"/>
                            </a:rPr>
                            <m:t>†</m:t>
                          </m:r>
                        </m:sup>
                      </m:sSup>
                      <m:r>
                        <a:rPr kumimoji="1" lang="en-US" altLang="ja-JP" sz="4000" b="0" i="1" smtClean="0">
                          <a:latin typeface="Cambria Math" panose="02040503050406030204" pitchFamily="18" charset="0"/>
                        </a:rPr>
                        <m:t>𝐷</m:t>
                      </m:r>
                      <m:r>
                        <a:rPr kumimoji="1" lang="ja-JP" altLang="en-US" sz="4000" b="0" i="1" smtClean="0">
                          <a:latin typeface="Cambria Math" panose="02040503050406030204" pitchFamily="18" charset="0"/>
                        </a:rPr>
                        <m:t>𝜓</m:t>
                      </m:r>
                      <m:r>
                        <a:rPr kumimoji="1" lang="en-US" altLang="ja-JP" sz="4000" b="0" i="1" smtClean="0">
                          <a:latin typeface="Cambria Math" panose="02040503050406030204" pitchFamily="18" charset="0"/>
                        </a:rPr>
                        <m:t>=</m:t>
                      </m:r>
                      <m:r>
                        <a:rPr kumimoji="1" lang="en-US" altLang="ja-JP" sz="4000" b="0" i="1" smtClean="0">
                          <a:latin typeface="Cambria Math" panose="02040503050406030204" pitchFamily="18" charset="0"/>
                        </a:rPr>
                        <m:t>𝑏</m:t>
                      </m:r>
                    </m:oMath>
                  </m:oMathPara>
                </a14:m>
                <a:endParaRPr kumimoji="1" lang="ja-JP" altLang="en-US" sz="4000" dirty="0"/>
              </a:p>
            </p:txBody>
          </p:sp>
        </mc:Choice>
        <mc:Fallback>
          <p:sp>
            <p:nvSpPr>
              <p:cNvPr id="6" name="テキスト ボックス 5">
                <a:extLst>
                  <a:ext uri="{FF2B5EF4-FFF2-40B4-BE49-F238E27FC236}">
                    <a16:creationId xmlns:a16="http://schemas.microsoft.com/office/drawing/2014/main" id="{A91BEB45-6B3B-24E9-6B0A-9A47B22C3AE3}"/>
                  </a:ext>
                </a:extLst>
              </p:cNvPr>
              <p:cNvSpPr txBox="1">
                <a:spLocks noRot="1" noChangeAspect="1" noMove="1" noResize="1" noEditPoints="1" noAdjustHandles="1" noChangeArrowheads="1" noChangeShapeType="1" noTextEdit="1"/>
              </p:cNvSpPr>
              <p:nvPr/>
            </p:nvSpPr>
            <p:spPr>
              <a:xfrm>
                <a:off x="7416800" y="5499855"/>
                <a:ext cx="2436757" cy="631455"/>
              </a:xfrm>
              <a:prstGeom prst="rect">
                <a:avLst/>
              </a:prstGeom>
              <a:blipFill>
                <a:blip r:embed="rId4"/>
                <a:stretch>
                  <a:fillRect/>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20002821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66543CC-7F36-2470-E6F4-D53AEB6470DF}"/>
              </a:ext>
            </a:extLst>
          </p:cNvPr>
          <p:cNvSpPr>
            <a:spLocks noGrp="1"/>
          </p:cNvSpPr>
          <p:nvPr>
            <p:ph type="title"/>
          </p:nvPr>
        </p:nvSpPr>
        <p:spPr/>
        <p:txBody>
          <a:bodyPr/>
          <a:lstStyle/>
          <a:p>
            <a:r>
              <a:rPr kumimoji="1" lang="en-US" altLang="ja-JP" dirty="0"/>
              <a:t>CG</a:t>
            </a:r>
            <a:r>
              <a:rPr kumimoji="1" lang="ja-JP" altLang="en-US" dirty="0"/>
              <a:t>法</a:t>
            </a:r>
          </a:p>
        </p:txBody>
      </p:sp>
      <mc:AlternateContent xmlns:mc="http://schemas.openxmlformats.org/markup-compatibility/2006">
        <mc:Choice xmlns:a14="http://schemas.microsoft.com/office/drawing/2010/main" Requires="a14">
          <p:sp>
            <p:nvSpPr>
              <p:cNvPr id="3" name="コンテンツ プレースホルダー 2">
                <a:extLst>
                  <a:ext uri="{FF2B5EF4-FFF2-40B4-BE49-F238E27FC236}">
                    <a16:creationId xmlns:a16="http://schemas.microsoft.com/office/drawing/2014/main" id="{7DF6530E-7487-0763-E692-980469308350}"/>
                  </a:ext>
                </a:extLst>
              </p:cNvPr>
              <p:cNvSpPr>
                <a:spLocks noGrp="1"/>
              </p:cNvSpPr>
              <p:nvPr>
                <p:ph idx="1"/>
              </p:nvPr>
            </p:nvSpPr>
            <p:spPr/>
            <p:txBody>
              <a:bodyPr/>
              <a:lstStyle/>
              <a:p>
                <a:pPr lvl="0"/>
                <a:r>
                  <a:rPr lang="ja-JP" altLang="ja-JP" dirty="0"/>
                  <a:t>共役勾配法（Conjugate Gradient method）</a:t>
                </a:r>
                <a:endParaRPr lang="en-US" altLang="ja-JP" dirty="0"/>
              </a:p>
              <a:p>
                <a:pPr lvl="0"/>
                <a:endParaRPr lang="ja-JP" altLang="ja-JP" dirty="0"/>
              </a:p>
              <a:p>
                <a:pPr lvl="0"/>
                <a:r>
                  <a:rPr lang="ja-JP" altLang="ja-JP" dirty="0"/>
                  <a:t>大規模な連立一次方程式を反復的に解く手法</a:t>
                </a:r>
                <a:endParaRPr lang="en-US" altLang="ja-JP" dirty="0"/>
              </a:p>
              <a:p>
                <a:pPr lvl="0"/>
                <a:endParaRPr lang="ja-JP" altLang="ja-JP" dirty="0"/>
              </a:p>
              <a:p>
                <a:pPr lvl="0"/>
                <a:r>
                  <a:rPr lang="ja-JP" altLang="ja-JP" dirty="0"/>
                  <a:t> </a:t>
                </a:r>
                <a14:m>
                  <m:oMath xmlns:m="http://schemas.openxmlformats.org/officeDocument/2006/math">
                    <m:sSup>
                      <m:sSupPr>
                        <m:ctrlPr>
                          <a:rPr lang="en-US" altLang="ja-JP" b="0" i="1" smtClean="0">
                            <a:latin typeface="Cambria Math" panose="02040503050406030204" pitchFamily="18" charset="0"/>
                          </a:rPr>
                        </m:ctrlPr>
                      </m:sSupPr>
                      <m:e>
                        <m:r>
                          <a:rPr lang="en-US" altLang="ja-JP" b="0" i="1" smtClean="0">
                            <a:latin typeface="Cambria Math" panose="02040503050406030204" pitchFamily="18" charset="0"/>
                          </a:rPr>
                          <m:t>𝐷</m:t>
                        </m:r>
                      </m:e>
                      <m:sup>
                        <m:r>
                          <a:rPr lang="en-US" altLang="ja-JP" i="1" smtClean="0">
                            <a:latin typeface="Cambria Math" panose="02040503050406030204" pitchFamily="18" charset="0"/>
                            <a:ea typeface="Cambria Math" panose="02040503050406030204" pitchFamily="18" charset="0"/>
                          </a:rPr>
                          <m:t>†</m:t>
                        </m:r>
                      </m:sup>
                    </m:sSup>
                    <m:r>
                      <a:rPr lang="en-US" altLang="ja-JP" b="0" i="1" smtClean="0">
                        <a:latin typeface="Cambria Math" panose="02040503050406030204" pitchFamily="18" charset="0"/>
                      </a:rPr>
                      <m:t>𝐷</m:t>
                    </m:r>
                  </m:oMath>
                </a14:m>
                <a:r>
                  <a:rPr lang="ja-JP" altLang="ja-JP" dirty="0"/>
                  <a:t>のようなエルミート正定値行列に適用可能</a:t>
                </a:r>
                <a:endParaRPr lang="en-US" altLang="ja-JP" dirty="0"/>
              </a:p>
              <a:p>
                <a:pPr lvl="0"/>
                <a:endParaRPr lang="ja-JP" altLang="ja-JP" dirty="0"/>
              </a:p>
              <a:p>
                <a:pPr lvl="0"/>
                <a:r>
                  <a:rPr lang="ja-JP" altLang="ja-JP" dirty="0"/>
                  <a:t>解が収束条件を満たすまで以下の処理を反復</a:t>
                </a:r>
              </a:p>
              <a:p>
                <a:endParaRPr kumimoji="1" lang="ja-JP" altLang="en-US" dirty="0"/>
              </a:p>
            </p:txBody>
          </p:sp>
        </mc:Choice>
        <mc:Fallback>
          <p:sp>
            <p:nvSpPr>
              <p:cNvPr id="3" name="コンテンツ プレースホルダー 2">
                <a:extLst>
                  <a:ext uri="{FF2B5EF4-FFF2-40B4-BE49-F238E27FC236}">
                    <a16:creationId xmlns:a16="http://schemas.microsoft.com/office/drawing/2014/main" id="{7DF6530E-7487-0763-E692-980469308350}"/>
                  </a:ext>
                </a:extLst>
              </p:cNvPr>
              <p:cNvSpPr>
                <a:spLocks noGrp="1" noRot="1" noChangeAspect="1" noMove="1" noResize="1" noEditPoints="1" noAdjustHandles="1" noChangeArrowheads="1" noChangeShapeType="1" noTextEdit="1"/>
              </p:cNvSpPr>
              <p:nvPr>
                <p:ph idx="1"/>
              </p:nvPr>
            </p:nvSpPr>
            <p:spPr>
              <a:blipFill>
                <a:blip r:embed="rId2"/>
                <a:stretch>
                  <a:fillRect l="-1043" t="-2241"/>
                </a:stretch>
              </a:blipFill>
            </p:spPr>
            <p:txBody>
              <a:bodyPr/>
              <a:lstStyle/>
              <a:p>
                <a:r>
                  <a:rPr lang="ja-JP" altLang="en-US">
                    <a:noFill/>
                  </a:rPr>
                  <a:t> </a:t>
                </a:r>
              </a:p>
            </p:txBody>
          </p:sp>
        </mc:Fallback>
      </mc:AlternateContent>
    </p:spTree>
    <p:extLst>
      <p:ext uri="{BB962C8B-B14F-4D97-AF65-F5344CB8AC3E}">
        <p14:creationId xmlns:p14="http://schemas.microsoft.com/office/powerpoint/2010/main" val="36201979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F78CF1-00B0-4ADD-45B6-6F82E1222B4F}"/>
              </a:ext>
            </a:extLst>
          </p:cNvPr>
          <p:cNvSpPr>
            <a:spLocks noGrp="1"/>
          </p:cNvSpPr>
          <p:nvPr>
            <p:ph type="title"/>
          </p:nvPr>
        </p:nvSpPr>
        <p:spPr/>
        <p:txBody>
          <a:bodyPr/>
          <a:lstStyle/>
          <a:p>
            <a:r>
              <a:rPr lang="ja-JP" altLang="en-US" dirty="0"/>
              <a:t>実行環境</a:t>
            </a:r>
            <a:endParaRPr kumimoji="1" lang="ja-JP" altLang="en-US" dirty="0"/>
          </a:p>
        </p:txBody>
      </p:sp>
      <p:graphicFrame>
        <p:nvGraphicFramePr>
          <p:cNvPr id="7" name="コンテンツ プレースホルダー 6">
            <a:extLst>
              <a:ext uri="{FF2B5EF4-FFF2-40B4-BE49-F238E27FC236}">
                <a16:creationId xmlns:a16="http://schemas.microsoft.com/office/drawing/2014/main" id="{CB7C63C8-8608-A1F0-2620-AC6276369CA3}"/>
              </a:ext>
            </a:extLst>
          </p:cNvPr>
          <p:cNvGraphicFramePr>
            <a:graphicFrameLocks noGrp="1"/>
          </p:cNvGraphicFramePr>
          <p:nvPr>
            <p:ph idx="1"/>
            <p:extLst>
              <p:ext uri="{D42A27DB-BD31-4B8C-83A1-F6EECF244321}">
                <p14:modId xmlns:p14="http://schemas.microsoft.com/office/powerpoint/2010/main" val="978916875"/>
              </p:ext>
            </p:extLst>
          </p:nvPr>
        </p:nvGraphicFramePr>
        <p:xfrm>
          <a:off x="838200" y="1825625"/>
          <a:ext cx="10515597" cy="1483360"/>
        </p:xfrm>
        <a:graphic>
          <a:graphicData uri="http://schemas.openxmlformats.org/drawingml/2006/table">
            <a:tbl>
              <a:tblPr firstRow="1" bandRow="1">
                <a:tableStyleId>{5940675A-B579-460E-94D1-54222C63F5DA}</a:tableStyleId>
              </a:tblPr>
              <a:tblGrid>
                <a:gridCol w="3505199">
                  <a:extLst>
                    <a:ext uri="{9D8B030D-6E8A-4147-A177-3AD203B41FA5}">
                      <a16:colId xmlns:a16="http://schemas.microsoft.com/office/drawing/2014/main" val="3687594133"/>
                    </a:ext>
                  </a:extLst>
                </a:gridCol>
                <a:gridCol w="3505199">
                  <a:extLst>
                    <a:ext uri="{9D8B030D-6E8A-4147-A177-3AD203B41FA5}">
                      <a16:colId xmlns:a16="http://schemas.microsoft.com/office/drawing/2014/main" val="2261543222"/>
                    </a:ext>
                  </a:extLst>
                </a:gridCol>
                <a:gridCol w="3505199">
                  <a:extLst>
                    <a:ext uri="{9D8B030D-6E8A-4147-A177-3AD203B41FA5}">
                      <a16:colId xmlns:a16="http://schemas.microsoft.com/office/drawing/2014/main" val="1063947458"/>
                    </a:ext>
                  </a:extLst>
                </a:gridCol>
              </a:tblGrid>
              <a:tr h="37084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3618627171"/>
                  </a:ext>
                </a:extLst>
              </a:tr>
              <a:tr h="37084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98068148"/>
                  </a:ext>
                </a:extLst>
              </a:tr>
              <a:tr h="370840">
                <a:tc>
                  <a:txBody>
                    <a:bodyPr/>
                    <a:lstStyle/>
                    <a:p>
                      <a:endParaRPr kumimoji="1" lang="ja-JP" altLang="en-US"/>
                    </a:p>
                  </a:txBody>
                  <a:tcPr/>
                </a:tc>
                <a:tc>
                  <a:txBody>
                    <a:bodyPr/>
                    <a:lstStyle/>
                    <a:p>
                      <a:endParaRPr kumimoji="1" lang="ja-JP" altLang="en-US"/>
                    </a:p>
                  </a:txBody>
                  <a:tcPr/>
                </a:tc>
                <a:tc>
                  <a:txBody>
                    <a:bodyPr/>
                    <a:lstStyle/>
                    <a:p>
                      <a:endParaRPr kumimoji="1" lang="ja-JP" altLang="en-US"/>
                    </a:p>
                  </a:txBody>
                  <a:tcPr/>
                </a:tc>
                <a:extLst>
                  <a:ext uri="{0D108BD9-81ED-4DB2-BD59-A6C34878D82A}">
                    <a16:rowId xmlns:a16="http://schemas.microsoft.com/office/drawing/2014/main" val="3044386580"/>
                  </a:ext>
                </a:extLst>
              </a:tr>
              <a:tr h="370840">
                <a:tc>
                  <a:txBody>
                    <a:bodyPr/>
                    <a:lstStyle/>
                    <a:p>
                      <a:endParaRPr kumimoji="1" lang="ja-JP" altLang="en-US"/>
                    </a:p>
                  </a:txBody>
                  <a:tcPr/>
                </a:tc>
                <a:tc>
                  <a:txBody>
                    <a:bodyPr/>
                    <a:lstStyle/>
                    <a:p>
                      <a:endParaRPr kumimoji="1" lang="ja-JP" altLang="en-US"/>
                    </a:p>
                  </a:txBody>
                  <a:tcPr/>
                </a:tc>
                <a:tc>
                  <a:txBody>
                    <a:bodyPr/>
                    <a:lstStyle/>
                    <a:p>
                      <a:endParaRPr kumimoji="1" lang="ja-JP" altLang="en-US" dirty="0"/>
                    </a:p>
                  </a:txBody>
                  <a:tcPr/>
                </a:tc>
                <a:extLst>
                  <a:ext uri="{0D108BD9-81ED-4DB2-BD59-A6C34878D82A}">
                    <a16:rowId xmlns:a16="http://schemas.microsoft.com/office/drawing/2014/main" val="3893323932"/>
                  </a:ext>
                </a:extLst>
              </a:tr>
            </a:tbl>
          </a:graphicData>
        </a:graphic>
      </p:graphicFrame>
    </p:spTree>
    <p:extLst>
      <p:ext uri="{BB962C8B-B14F-4D97-AF65-F5344CB8AC3E}">
        <p14:creationId xmlns:p14="http://schemas.microsoft.com/office/powerpoint/2010/main" val="420695857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E6AB784-AC1B-291B-EEAB-C9DBCFFEAF76}"/>
              </a:ext>
            </a:extLst>
          </p:cNvPr>
          <p:cNvSpPr>
            <a:spLocks noGrp="1"/>
          </p:cNvSpPr>
          <p:nvPr>
            <p:ph type="title"/>
          </p:nvPr>
        </p:nvSpPr>
        <p:spPr/>
        <p:txBody>
          <a:bodyPr/>
          <a:lstStyle/>
          <a:p>
            <a:r>
              <a:rPr kumimoji="1" lang="ja-JP" altLang="en-US" dirty="0"/>
              <a:t>プロファイリング</a:t>
            </a:r>
            <a:r>
              <a:rPr kumimoji="1" lang="en-US" altLang="ja-JP" dirty="0"/>
              <a:t>(Genoa)</a:t>
            </a:r>
            <a:endParaRPr kumimoji="1" lang="ja-JP" altLang="en-US" dirty="0"/>
          </a:p>
        </p:txBody>
      </p:sp>
      <p:sp>
        <p:nvSpPr>
          <p:cNvPr id="3" name="コンテンツ プレースホルダー 2">
            <a:extLst>
              <a:ext uri="{FF2B5EF4-FFF2-40B4-BE49-F238E27FC236}">
                <a16:creationId xmlns:a16="http://schemas.microsoft.com/office/drawing/2014/main" id="{03BAC85A-5482-B984-E823-63BEEC225DA4}"/>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398812245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FA7CEF-75FD-6B62-E5FE-718CDF59D1B0}"/>
              </a:ext>
            </a:extLst>
          </p:cNvPr>
          <p:cNvSpPr>
            <a:spLocks noGrp="1"/>
          </p:cNvSpPr>
          <p:nvPr>
            <p:ph type="title"/>
          </p:nvPr>
        </p:nvSpPr>
        <p:spPr/>
        <p:txBody>
          <a:bodyPr/>
          <a:lstStyle/>
          <a:p>
            <a:r>
              <a:rPr lang="ja-JP" altLang="en-US" dirty="0"/>
              <a:t>プロファイリング</a:t>
            </a:r>
            <a:r>
              <a:rPr lang="en-US" altLang="ja-JP" dirty="0"/>
              <a:t>(ACLE General)</a:t>
            </a:r>
            <a:endParaRPr kumimoji="1" lang="ja-JP" altLang="en-US" dirty="0"/>
          </a:p>
        </p:txBody>
      </p:sp>
      <p:sp>
        <p:nvSpPr>
          <p:cNvPr id="3" name="コンテンツ プレースホルダー 2">
            <a:extLst>
              <a:ext uri="{FF2B5EF4-FFF2-40B4-BE49-F238E27FC236}">
                <a16:creationId xmlns:a16="http://schemas.microsoft.com/office/drawing/2014/main" id="{7DB8861B-D7E2-23C0-C5B4-D2D29284D87A}"/>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1506823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1DC9902-C9A6-B05A-F281-476C8B067586}"/>
              </a:ext>
            </a:extLst>
          </p:cNvPr>
          <p:cNvSpPr>
            <a:spLocks noGrp="1"/>
          </p:cNvSpPr>
          <p:nvPr>
            <p:ph type="title"/>
          </p:nvPr>
        </p:nvSpPr>
        <p:spPr/>
        <p:txBody>
          <a:bodyPr/>
          <a:lstStyle/>
          <a:p>
            <a:r>
              <a:rPr kumimoji="1" lang="ja-JP" altLang="en-US" dirty="0"/>
              <a:t>ボトルネック分析</a:t>
            </a:r>
          </a:p>
        </p:txBody>
      </p:sp>
      <p:sp>
        <p:nvSpPr>
          <p:cNvPr id="3" name="コンテンツ プレースホルダー 2">
            <a:extLst>
              <a:ext uri="{FF2B5EF4-FFF2-40B4-BE49-F238E27FC236}">
                <a16:creationId xmlns:a16="http://schemas.microsoft.com/office/drawing/2014/main" id="{6E942386-9462-52C4-40C8-43D564C2D450}"/>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7470716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6BCFB5B-34B1-EF31-1F0A-0EA943F22B45}"/>
              </a:ext>
            </a:extLst>
          </p:cNvPr>
          <p:cNvSpPr>
            <a:spLocks noGrp="1"/>
          </p:cNvSpPr>
          <p:nvPr>
            <p:ph type="title"/>
          </p:nvPr>
        </p:nvSpPr>
        <p:spPr/>
        <p:txBody>
          <a:bodyPr/>
          <a:lstStyle/>
          <a:p>
            <a:r>
              <a:rPr kumimoji="1" lang="ja-JP" altLang="en-US" dirty="0"/>
              <a:t>最適化手法</a:t>
            </a:r>
          </a:p>
        </p:txBody>
      </p:sp>
      <p:sp>
        <p:nvSpPr>
          <p:cNvPr id="3" name="コンテンツ プレースホルダー 2">
            <a:extLst>
              <a:ext uri="{FF2B5EF4-FFF2-40B4-BE49-F238E27FC236}">
                <a16:creationId xmlns:a16="http://schemas.microsoft.com/office/drawing/2014/main" id="{D9836E75-3B6D-409D-9448-D6651E3B6522}"/>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329433450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1756A03-7AEB-5A98-6222-2337A7D1E205}"/>
              </a:ext>
            </a:extLst>
          </p:cNvPr>
          <p:cNvSpPr>
            <a:spLocks noGrp="1"/>
          </p:cNvSpPr>
          <p:nvPr>
            <p:ph type="title"/>
          </p:nvPr>
        </p:nvSpPr>
        <p:spPr/>
        <p:txBody>
          <a:bodyPr/>
          <a:lstStyle/>
          <a:p>
            <a:r>
              <a:rPr kumimoji="1" lang="ja-JP" altLang="en-US" dirty="0"/>
              <a:t>最適化前後の比較</a:t>
            </a:r>
          </a:p>
        </p:txBody>
      </p:sp>
      <p:sp>
        <p:nvSpPr>
          <p:cNvPr id="3" name="コンテンツ プレースホルダー 2">
            <a:extLst>
              <a:ext uri="{FF2B5EF4-FFF2-40B4-BE49-F238E27FC236}">
                <a16:creationId xmlns:a16="http://schemas.microsoft.com/office/drawing/2014/main" id="{42E226D5-2097-6BE2-D692-9339D987CAC0}"/>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00065677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A63984-0C35-C197-D2E7-4552A0C00FA5}"/>
              </a:ext>
            </a:extLst>
          </p:cNvPr>
          <p:cNvSpPr>
            <a:spLocks noGrp="1"/>
          </p:cNvSpPr>
          <p:nvPr>
            <p:ph type="title"/>
          </p:nvPr>
        </p:nvSpPr>
        <p:spPr/>
        <p:txBody>
          <a:bodyPr/>
          <a:lstStyle/>
          <a:p>
            <a:r>
              <a:rPr kumimoji="1" lang="ja-JP" altLang="en-US" dirty="0"/>
              <a:t>反復回数削減</a:t>
            </a:r>
          </a:p>
        </p:txBody>
      </p:sp>
      <p:sp>
        <p:nvSpPr>
          <p:cNvPr id="3" name="コンテンツ プレースホルダー 2">
            <a:extLst>
              <a:ext uri="{FF2B5EF4-FFF2-40B4-BE49-F238E27FC236}">
                <a16:creationId xmlns:a16="http://schemas.microsoft.com/office/drawing/2014/main" id="{02076242-D7D6-AEBD-2CCE-1499DE4D15F1}"/>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420310287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A857891-6D18-1C53-EA6C-C20F031D6A7B}"/>
              </a:ext>
            </a:extLst>
          </p:cNvPr>
          <p:cNvSpPr>
            <a:spLocks noGrp="1"/>
          </p:cNvSpPr>
          <p:nvPr>
            <p:ph type="title"/>
          </p:nvPr>
        </p:nvSpPr>
        <p:spPr/>
        <p:txBody>
          <a:bodyPr/>
          <a:lstStyle/>
          <a:p>
            <a:r>
              <a:rPr kumimoji="1" lang="en-US" altLang="ja-JP" dirty="0"/>
              <a:t>MG</a:t>
            </a:r>
            <a:r>
              <a:rPr kumimoji="1" lang="ja-JP" altLang="en-US" dirty="0"/>
              <a:t>の実装</a:t>
            </a:r>
          </a:p>
        </p:txBody>
      </p:sp>
      <p:sp>
        <p:nvSpPr>
          <p:cNvPr id="3" name="コンテンツ プレースホルダー 2">
            <a:extLst>
              <a:ext uri="{FF2B5EF4-FFF2-40B4-BE49-F238E27FC236}">
                <a16:creationId xmlns:a16="http://schemas.microsoft.com/office/drawing/2014/main" id="{E16ABEF8-FE53-2A4D-4F02-7087C5C9EA7B}"/>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40952995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7D0413E-B483-062C-DEF7-8F11DCC0498C}"/>
              </a:ext>
            </a:extLst>
          </p:cNvPr>
          <p:cNvSpPr>
            <a:spLocks noGrp="1"/>
          </p:cNvSpPr>
          <p:nvPr>
            <p:ph type="title"/>
          </p:nvPr>
        </p:nvSpPr>
        <p:spPr/>
        <p:txBody>
          <a:bodyPr/>
          <a:lstStyle/>
          <a:p>
            <a:r>
              <a:rPr lang="en-US" altLang="ja-JP" dirty="0"/>
              <a:t>Multigrid</a:t>
            </a:r>
            <a:endParaRPr kumimoji="1" lang="ja-JP" altLang="en-US" dirty="0"/>
          </a:p>
        </p:txBody>
      </p:sp>
      <p:sp>
        <p:nvSpPr>
          <p:cNvPr id="3" name="コンテンツ プレースホルダー 2">
            <a:extLst>
              <a:ext uri="{FF2B5EF4-FFF2-40B4-BE49-F238E27FC236}">
                <a16:creationId xmlns:a16="http://schemas.microsoft.com/office/drawing/2014/main" id="{00E8ABAA-B22C-DA87-AE95-D82ED838823E}"/>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7521412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DE3E3AD-E439-A8C6-0398-F5B43D4C9F74}"/>
              </a:ext>
            </a:extLst>
          </p:cNvPr>
          <p:cNvSpPr>
            <a:spLocks noGrp="1"/>
          </p:cNvSpPr>
          <p:nvPr>
            <p:ph type="title"/>
          </p:nvPr>
        </p:nvSpPr>
        <p:spPr/>
        <p:txBody>
          <a:bodyPr/>
          <a:lstStyle/>
          <a:p>
            <a:r>
              <a:rPr kumimoji="1" lang="en-US" altLang="ja-JP" dirty="0"/>
              <a:t>MG</a:t>
            </a:r>
            <a:r>
              <a:rPr kumimoji="1" lang="ja-JP" altLang="en-US" dirty="0"/>
              <a:t>の結果</a:t>
            </a:r>
          </a:p>
        </p:txBody>
      </p:sp>
      <p:sp>
        <p:nvSpPr>
          <p:cNvPr id="3" name="コンテンツ プレースホルダー 2">
            <a:extLst>
              <a:ext uri="{FF2B5EF4-FFF2-40B4-BE49-F238E27FC236}">
                <a16:creationId xmlns:a16="http://schemas.microsoft.com/office/drawing/2014/main" id="{70514947-C9DC-0297-C1B6-9B3ED7530242}"/>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28953386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DC82B6E-B380-723F-52F2-C44FA52D3C8C}"/>
              </a:ext>
            </a:extLst>
          </p:cNvPr>
          <p:cNvSpPr>
            <a:spLocks noGrp="1"/>
          </p:cNvSpPr>
          <p:nvPr>
            <p:ph type="title"/>
          </p:nvPr>
        </p:nvSpPr>
        <p:spPr/>
        <p:txBody>
          <a:bodyPr/>
          <a:lstStyle/>
          <a:p>
            <a:r>
              <a:rPr kumimoji="1" lang="ja-JP" altLang="en-US" dirty="0"/>
              <a:t>今後の課題</a:t>
            </a:r>
          </a:p>
        </p:txBody>
      </p:sp>
      <p:sp>
        <p:nvSpPr>
          <p:cNvPr id="3" name="コンテンツ プレースホルダー 2">
            <a:extLst>
              <a:ext uri="{FF2B5EF4-FFF2-40B4-BE49-F238E27FC236}">
                <a16:creationId xmlns:a16="http://schemas.microsoft.com/office/drawing/2014/main" id="{DCBA5F93-6B41-86E9-120F-FC972A1B08D4}"/>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12422179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A4200F2-BA62-FF1A-12C2-70384BC35E48}"/>
              </a:ext>
            </a:extLst>
          </p:cNvPr>
          <p:cNvSpPr>
            <a:spLocks noGrp="1"/>
          </p:cNvSpPr>
          <p:nvPr>
            <p:ph type="title"/>
          </p:nvPr>
        </p:nvSpPr>
        <p:spPr/>
        <p:txBody>
          <a:bodyPr/>
          <a:lstStyle/>
          <a:p>
            <a:r>
              <a:rPr kumimoji="1" lang="ja-JP" altLang="en-US" dirty="0"/>
              <a:t>その他の高速化の検討</a:t>
            </a:r>
          </a:p>
        </p:txBody>
      </p:sp>
      <p:sp>
        <p:nvSpPr>
          <p:cNvPr id="3" name="コンテンツ プレースホルダー 2">
            <a:extLst>
              <a:ext uri="{FF2B5EF4-FFF2-40B4-BE49-F238E27FC236}">
                <a16:creationId xmlns:a16="http://schemas.microsoft.com/office/drawing/2014/main" id="{4F74620D-095F-7337-E1C3-8E3D1A5B7C9B}"/>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19403965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33F313A-A19B-9D6A-9160-07D885A4FA52}"/>
              </a:ext>
            </a:extLst>
          </p:cNvPr>
          <p:cNvSpPr>
            <a:spLocks noGrp="1"/>
          </p:cNvSpPr>
          <p:nvPr>
            <p:ph type="title"/>
          </p:nvPr>
        </p:nvSpPr>
        <p:spPr/>
        <p:txBody>
          <a:bodyPr/>
          <a:lstStyle/>
          <a:p>
            <a:r>
              <a:rPr lang="ja-JP" altLang="en-US" dirty="0"/>
              <a:t>研究まとめ</a:t>
            </a:r>
            <a:endParaRPr kumimoji="1" lang="ja-JP" altLang="en-US" dirty="0"/>
          </a:p>
        </p:txBody>
      </p:sp>
      <p:sp>
        <p:nvSpPr>
          <p:cNvPr id="3" name="コンテンツ プレースホルダー 2">
            <a:extLst>
              <a:ext uri="{FF2B5EF4-FFF2-40B4-BE49-F238E27FC236}">
                <a16:creationId xmlns:a16="http://schemas.microsoft.com/office/drawing/2014/main" id="{41DCBE9F-24F7-57B4-C243-EEAB27FA9C6D}"/>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74158124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009F5E90-F96F-10F8-9B14-988CBFA44039}"/>
              </a:ext>
            </a:extLst>
          </p:cNvPr>
          <p:cNvSpPr>
            <a:spLocks noGrp="1"/>
          </p:cNvSpPr>
          <p:nvPr>
            <p:ph type="title"/>
          </p:nvPr>
        </p:nvSpPr>
        <p:spPr/>
        <p:txBody>
          <a:bodyPr/>
          <a:lstStyle/>
          <a:p>
            <a:r>
              <a:rPr kumimoji="1" lang="ja-JP" altLang="en-US" dirty="0"/>
              <a:t>感想</a:t>
            </a:r>
          </a:p>
        </p:txBody>
      </p:sp>
      <p:sp>
        <p:nvSpPr>
          <p:cNvPr id="3" name="コンテンツ プレースホルダー 2">
            <a:extLst>
              <a:ext uri="{FF2B5EF4-FFF2-40B4-BE49-F238E27FC236}">
                <a16:creationId xmlns:a16="http://schemas.microsoft.com/office/drawing/2014/main" id="{AA00D9E8-4265-395A-6BBD-682EF57BF209}"/>
              </a:ext>
            </a:extLst>
          </p:cNvPr>
          <p:cNvSpPr>
            <a:spLocks noGrp="1"/>
          </p:cNvSpPr>
          <p:nvPr>
            <p:ph idx="1"/>
          </p:nvPr>
        </p:nvSpPr>
        <p:spPr/>
        <p:txBody>
          <a:bodyPr/>
          <a:lstStyle/>
          <a:p>
            <a:endParaRPr kumimoji="1" lang="ja-JP" altLang="en-US" dirty="0"/>
          </a:p>
        </p:txBody>
      </p:sp>
    </p:spTree>
    <p:extLst>
      <p:ext uri="{BB962C8B-B14F-4D97-AF65-F5344CB8AC3E}">
        <p14:creationId xmlns:p14="http://schemas.microsoft.com/office/powerpoint/2010/main" val="256553435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CC9AFD-A21A-26D4-C8EE-7369946AB938}"/>
              </a:ext>
            </a:extLst>
          </p:cNvPr>
          <p:cNvSpPr>
            <a:spLocks noGrp="1"/>
          </p:cNvSpPr>
          <p:nvPr>
            <p:ph type="title"/>
          </p:nvPr>
        </p:nvSpPr>
        <p:spPr/>
        <p:txBody>
          <a:bodyPr/>
          <a:lstStyle/>
          <a:p>
            <a:r>
              <a:rPr lang="ja-JP" altLang="en-US" dirty="0"/>
              <a:t>時間計測方法</a:t>
            </a:r>
            <a:endParaRPr kumimoji="1" lang="ja-JP" altLang="en-US" dirty="0"/>
          </a:p>
        </p:txBody>
      </p:sp>
      <p:sp>
        <p:nvSpPr>
          <p:cNvPr id="3" name="コンテンツ プレースホルダー 2">
            <a:extLst>
              <a:ext uri="{FF2B5EF4-FFF2-40B4-BE49-F238E27FC236}">
                <a16:creationId xmlns:a16="http://schemas.microsoft.com/office/drawing/2014/main" id="{1C4C01A1-D685-96E4-E7E8-F71C2C7BD95C}"/>
              </a:ext>
            </a:extLst>
          </p:cNvPr>
          <p:cNvSpPr>
            <a:spLocks noGrp="1"/>
          </p:cNvSpPr>
          <p:nvPr>
            <p:ph idx="1"/>
          </p:nvPr>
        </p:nvSpPr>
        <p:spPr/>
        <p:txBody>
          <a:bodyPr/>
          <a:lstStyle/>
          <a:p>
            <a:endParaRPr kumimoji="1" lang="ja-JP" altLang="en-US"/>
          </a:p>
        </p:txBody>
      </p:sp>
    </p:spTree>
    <p:extLst>
      <p:ext uri="{BB962C8B-B14F-4D97-AF65-F5344CB8AC3E}">
        <p14:creationId xmlns:p14="http://schemas.microsoft.com/office/powerpoint/2010/main" val="2242090046"/>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141</TotalTime>
  <Words>284</Words>
  <Application>Microsoft Office PowerPoint</Application>
  <PresentationFormat>ワイド画面</PresentationFormat>
  <Paragraphs>52</Paragraphs>
  <Slides>21</Slides>
  <Notes>1</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21</vt:i4>
      </vt:variant>
    </vt:vector>
  </HeadingPairs>
  <TitlesOfParts>
    <vt:vector size="26" baseType="lpstr">
      <vt:lpstr>游ゴシック</vt:lpstr>
      <vt:lpstr>游ゴシック Light</vt:lpstr>
      <vt:lpstr>Arial</vt:lpstr>
      <vt:lpstr>Cambria Math</vt:lpstr>
      <vt:lpstr>Office テーマ</vt:lpstr>
      <vt:lpstr>研究発表</vt:lpstr>
      <vt:lpstr>自己紹介</vt:lpstr>
      <vt:lpstr>研究内容・目的</vt:lpstr>
      <vt:lpstr>LQCDとは</vt:lpstr>
      <vt:lpstr>LQCDとSolver</vt:lpstr>
      <vt:lpstr>CG法</vt:lpstr>
      <vt:lpstr>実行環境</vt:lpstr>
      <vt:lpstr>プロファイリング(Genoa)</vt:lpstr>
      <vt:lpstr>プロファイリング(ACLE General)</vt:lpstr>
      <vt:lpstr>ボトルネック分析</vt:lpstr>
      <vt:lpstr>最適化手法</vt:lpstr>
      <vt:lpstr>最適化前後の比較</vt:lpstr>
      <vt:lpstr>反復回数削減</vt:lpstr>
      <vt:lpstr>MGの実装</vt:lpstr>
      <vt:lpstr>Multigrid</vt:lpstr>
      <vt:lpstr>MGの結果</vt:lpstr>
      <vt:lpstr>今後の課題</vt:lpstr>
      <vt:lpstr>その他の高速化の検討</vt:lpstr>
      <vt:lpstr>研究まとめ</vt:lpstr>
      <vt:lpstr>感想</vt:lpstr>
      <vt:lpstr>時間計測方法</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intern1</dc:creator>
  <cp:lastModifiedBy>intern1</cp:lastModifiedBy>
  <cp:revision>5</cp:revision>
  <dcterms:created xsi:type="dcterms:W3CDTF">2026-08-25T00:46:34Z</dcterms:created>
  <dcterms:modified xsi:type="dcterms:W3CDTF">2026-08-25T03:12:42Z</dcterms:modified>
</cp:coreProperties>
</file>